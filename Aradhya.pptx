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ource Serif Pro Bold" charset="1" panose="02040803050405020204"/>
      <p:regular r:id="rId19"/>
    </p:embeddedFont>
    <p:embeddedFont>
      <p:font typeface="Source Sans 3 Bold" charset="1" panose="020B0303030403020204"/>
      <p:regular r:id="rId20"/>
    </p:embeddedFont>
    <p:embeddedFont>
      <p:font typeface="Source Sans 3" charset="1" panose="020B0303030403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D4F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816" y="745922"/>
            <a:ext cx="6596358" cy="8795147"/>
            <a:chOff x="0" y="0"/>
            <a:chExt cx="8795144" cy="1172686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95131" cy="11726926"/>
            </a:xfrm>
            <a:custGeom>
              <a:avLst/>
              <a:gdLst/>
              <a:ahLst/>
              <a:cxnLst/>
              <a:rect r="r" b="b" t="t" l="l"/>
              <a:pathLst>
                <a:path h="11726926" w="8795131">
                  <a:moveTo>
                    <a:pt x="0" y="0"/>
                  </a:moveTo>
                  <a:lnTo>
                    <a:pt x="8795131" y="0"/>
                  </a:lnTo>
                  <a:lnTo>
                    <a:pt x="8795131" y="11726926"/>
                  </a:lnTo>
                  <a:lnTo>
                    <a:pt x="0" y="11726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" r="0" b="-4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05159" y="3558330"/>
            <a:ext cx="6160446" cy="78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Aradhya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5159" y="4654153"/>
            <a:ext cx="9335691" cy="50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true">
                <a:solidFill>
                  <a:srgbClr val="BE49D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Intelligent Clinical Handoffs. Zero Context Lost.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5159" y="5367490"/>
            <a:ext cx="9335691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secure, AI-powered platform that transforms fragmented patient information into structured, actionable handoffs — so clinicians can act faster, collaborate smarter, and prevent errors before they happen.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D4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56797" y="740569"/>
            <a:ext cx="6604397" cy="8805862"/>
            <a:chOff x="0" y="0"/>
            <a:chExt cx="8805862" cy="117411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05926" cy="11741150"/>
            </a:xfrm>
            <a:custGeom>
              <a:avLst/>
              <a:gdLst/>
              <a:ahLst/>
              <a:cxnLst/>
              <a:rect r="r" b="b" t="t" l="l"/>
              <a:pathLst>
                <a:path h="11741150" w="8805926">
                  <a:moveTo>
                    <a:pt x="0" y="0"/>
                  </a:moveTo>
                  <a:lnTo>
                    <a:pt x="8805926" y="0"/>
                  </a:lnTo>
                  <a:lnTo>
                    <a:pt x="8805926" y="11741150"/>
                  </a:lnTo>
                  <a:lnTo>
                    <a:pt x="0" y="1174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" t="0" r="-1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4565" y="752027"/>
            <a:ext cx="9400880" cy="151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Problem: Critical Context Dies at Handoff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565" y="2545709"/>
            <a:ext cx="9400880" cy="128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day, hospital patients are handed off between clinicians dozens of times — across shifts, units, and care teams. Each transition is a gap where vital context can fall through the cracks.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9802" y="4100960"/>
            <a:ext cx="4587183" cy="2254006"/>
            <a:chOff x="0" y="0"/>
            <a:chExt cx="6116244" cy="30053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103620" cy="2992628"/>
            </a:xfrm>
            <a:custGeom>
              <a:avLst/>
              <a:gdLst/>
              <a:ahLst/>
              <a:cxnLst/>
              <a:rect r="r" b="b" t="t" l="l"/>
              <a:pathLst>
                <a:path h="2992628" w="6103620">
                  <a:moveTo>
                    <a:pt x="0" y="141986"/>
                  </a:moveTo>
                  <a:cubicBezTo>
                    <a:pt x="0" y="63627"/>
                    <a:pt x="63754" y="0"/>
                    <a:pt x="142367" y="0"/>
                  </a:cubicBezTo>
                  <a:lnTo>
                    <a:pt x="5961253" y="0"/>
                  </a:lnTo>
                  <a:cubicBezTo>
                    <a:pt x="6039866" y="0"/>
                    <a:pt x="6103620" y="63627"/>
                    <a:pt x="6103620" y="141986"/>
                  </a:cubicBezTo>
                  <a:lnTo>
                    <a:pt x="6103620" y="2850642"/>
                  </a:lnTo>
                  <a:cubicBezTo>
                    <a:pt x="6103620" y="2929128"/>
                    <a:pt x="6039866" y="2992628"/>
                    <a:pt x="5961253" y="2992628"/>
                  </a:cubicBezTo>
                  <a:lnTo>
                    <a:pt x="142367" y="2992628"/>
                  </a:lnTo>
                  <a:cubicBezTo>
                    <a:pt x="63754" y="2992628"/>
                    <a:pt x="0" y="2929001"/>
                    <a:pt x="0" y="2850642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16320" cy="3005328"/>
            </a:xfrm>
            <a:custGeom>
              <a:avLst/>
              <a:gdLst/>
              <a:ahLst/>
              <a:cxnLst/>
              <a:rect r="r" b="b" t="t" l="l"/>
              <a:pathLst>
                <a:path h="3005328" w="6116320">
                  <a:moveTo>
                    <a:pt x="0" y="148336"/>
                  </a:moveTo>
                  <a:cubicBezTo>
                    <a:pt x="0" y="66421"/>
                    <a:pt x="66548" y="0"/>
                    <a:pt x="148717" y="0"/>
                  </a:cubicBezTo>
                  <a:lnTo>
                    <a:pt x="5967603" y="0"/>
                  </a:lnTo>
                  <a:lnTo>
                    <a:pt x="5967603" y="6350"/>
                  </a:lnTo>
                  <a:lnTo>
                    <a:pt x="5967603" y="0"/>
                  </a:lnTo>
                  <a:cubicBezTo>
                    <a:pt x="6049645" y="0"/>
                    <a:pt x="6116320" y="66421"/>
                    <a:pt x="6116320" y="148336"/>
                  </a:cubicBezTo>
                  <a:lnTo>
                    <a:pt x="6109970" y="148336"/>
                  </a:lnTo>
                  <a:lnTo>
                    <a:pt x="6116320" y="148336"/>
                  </a:lnTo>
                  <a:lnTo>
                    <a:pt x="6116320" y="2856992"/>
                  </a:lnTo>
                  <a:lnTo>
                    <a:pt x="6109970" y="2856992"/>
                  </a:lnTo>
                  <a:lnTo>
                    <a:pt x="6116320" y="2856992"/>
                  </a:lnTo>
                  <a:cubicBezTo>
                    <a:pt x="6116320" y="2938907"/>
                    <a:pt x="6049772" y="3005328"/>
                    <a:pt x="5967603" y="3005328"/>
                  </a:cubicBezTo>
                  <a:lnTo>
                    <a:pt x="5967603" y="2998978"/>
                  </a:lnTo>
                  <a:lnTo>
                    <a:pt x="5967603" y="3005328"/>
                  </a:lnTo>
                  <a:lnTo>
                    <a:pt x="148717" y="3005328"/>
                  </a:lnTo>
                  <a:lnTo>
                    <a:pt x="148717" y="2998978"/>
                  </a:lnTo>
                  <a:lnTo>
                    <a:pt x="148717" y="3005328"/>
                  </a:lnTo>
                  <a:cubicBezTo>
                    <a:pt x="66548" y="3005328"/>
                    <a:pt x="0" y="2938907"/>
                    <a:pt x="0" y="2856992"/>
                  </a:cubicBezTo>
                  <a:lnTo>
                    <a:pt x="0" y="148336"/>
                  </a:lnTo>
                  <a:lnTo>
                    <a:pt x="6350" y="148336"/>
                  </a:lnTo>
                  <a:lnTo>
                    <a:pt x="0" y="148336"/>
                  </a:lnTo>
                  <a:moveTo>
                    <a:pt x="12700" y="148336"/>
                  </a:moveTo>
                  <a:lnTo>
                    <a:pt x="12700" y="2856992"/>
                  </a:lnTo>
                  <a:lnTo>
                    <a:pt x="6350" y="2856992"/>
                  </a:lnTo>
                  <a:lnTo>
                    <a:pt x="12700" y="2856992"/>
                  </a:lnTo>
                  <a:cubicBezTo>
                    <a:pt x="12700" y="2931922"/>
                    <a:pt x="73533" y="2992628"/>
                    <a:pt x="148717" y="2992628"/>
                  </a:cubicBezTo>
                  <a:lnTo>
                    <a:pt x="5967603" y="2992628"/>
                  </a:lnTo>
                  <a:cubicBezTo>
                    <a:pt x="6042660" y="2992628"/>
                    <a:pt x="6103620" y="2931922"/>
                    <a:pt x="6103620" y="2856992"/>
                  </a:cubicBezTo>
                  <a:lnTo>
                    <a:pt x="6103620" y="148336"/>
                  </a:lnTo>
                  <a:cubicBezTo>
                    <a:pt x="6103493" y="73406"/>
                    <a:pt x="6042660" y="12700"/>
                    <a:pt x="5967603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406"/>
                    <a:pt x="12700" y="148336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7693" y="4359326"/>
            <a:ext cx="3628434" cy="38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🕐</a:t>
            </a: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Delayed Interventions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7693" y="4803429"/>
            <a:ext cx="4051402" cy="128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Critical findings buried in unstructured notes go unnoticed until it's too late to act.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833024" y="4100960"/>
            <a:ext cx="4587183" cy="2254006"/>
            <a:chOff x="0" y="0"/>
            <a:chExt cx="6116244" cy="30053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6103620" cy="2992628"/>
            </a:xfrm>
            <a:custGeom>
              <a:avLst/>
              <a:gdLst/>
              <a:ahLst/>
              <a:cxnLst/>
              <a:rect r="r" b="b" t="t" l="l"/>
              <a:pathLst>
                <a:path h="2992628" w="6103620">
                  <a:moveTo>
                    <a:pt x="0" y="141986"/>
                  </a:moveTo>
                  <a:cubicBezTo>
                    <a:pt x="0" y="63627"/>
                    <a:pt x="63754" y="0"/>
                    <a:pt x="142367" y="0"/>
                  </a:cubicBezTo>
                  <a:lnTo>
                    <a:pt x="5961253" y="0"/>
                  </a:lnTo>
                  <a:cubicBezTo>
                    <a:pt x="6039866" y="0"/>
                    <a:pt x="6103620" y="63627"/>
                    <a:pt x="6103620" y="141986"/>
                  </a:cubicBezTo>
                  <a:lnTo>
                    <a:pt x="6103620" y="2850642"/>
                  </a:lnTo>
                  <a:cubicBezTo>
                    <a:pt x="6103620" y="2929128"/>
                    <a:pt x="6039866" y="2992628"/>
                    <a:pt x="5961253" y="2992628"/>
                  </a:cubicBezTo>
                  <a:lnTo>
                    <a:pt x="142367" y="2992628"/>
                  </a:lnTo>
                  <a:cubicBezTo>
                    <a:pt x="63754" y="2992628"/>
                    <a:pt x="0" y="2929001"/>
                    <a:pt x="0" y="2850642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16320" cy="3005328"/>
            </a:xfrm>
            <a:custGeom>
              <a:avLst/>
              <a:gdLst/>
              <a:ahLst/>
              <a:cxnLst/>
              <a:rect r="r" b="b" t="t" l="l"/>
              <a:pathLst>
                <a:path h="3005328" w="6116320">
                  <a:moveTo>
                    <a:pt x="0" y="148336"/>
                  </a:moveTo>
                  <a:cubicBezTo>
                    <a:pt x="0" y="66421"/>
                    <a:pt x="66548" y="0"/>
                    <a:pt x="148717" y="0"/>
                  </a:cubicBezTo>
                  <a:lnTo>
                    <a:pt x="5967603" y="0"/>
                  </a:lnTo>
                  <a:lnTo>
                    <a:pt x="5967603" y="6350"/>
                  </a:lnTo>
                  <a:lnTo>
                    <a:pt x="5967603" y="0"/>
                  </a:lnTo>
                  <a:cubicBezTo>
                    <a:pt x="6049645" y="0"/>
                    <a:pt x="6116320" y="66421"/>
                    <a:pt x="6116320" y="148336"/>
                  </a:cubicBezTo>
                  <a:lnTo>
                    <a:pt x="6109970" y="148336"/>
                  </a:lnTo>
                  <a:lnTo>
                    <a:pt x="6116320" y="148336"/>
                  </a:lnTo>
                  <a:lnTo>
                    <a:pt x="6116320" y="2856992"/>
                  </a:lnTo>
                  <a:lnTo>
                    <a:pt x="6109970" y="2856992"/>
                  </a:lnTo>
                  <a:lnTo>
                    <a:pt x="6116320" y="2856992"/>
                  </a:lnTo>
                  <a:cubicBezTo>
                    <a:pt x="6116320" y="2938907"/>
                    <a:pt x="6049772" y="3005328"/>
                    <a:pt x="5967603" y="3005328"/>
                  </a:cubicBezTo>
                  <a:lnTo>
                    <a:pt x="5967603" y="2998978"/>
                  </a:lnTo>
                  <a:lnTo>
                    <a:pt x="5967603" y="3005328"/>
                  </a:lnTo>
                  <a:lnTo>
                    <a:pt x="148717" y="3005328"/>
                  </a:lnTo>
                  <a:lnTo>
                    <a:pt x="148717" y="2998978"/>
                  </a:lnTo>
                  <a:lnTo>
                    <a:pt x="148717" y="3005328"/>
                  </a:lnTo>
                  <a:cubicBezTo>
                    <a:pt x="66548" y="3005328"/>
                    <a:pt x="0" y="2938907"/>
                    <a:pt x="0" y="2856992"/>
                  </a:cubicBezTo>
                  <a:lnTo>
                    <a:pt x="0" y="148336"/>
                  </a:lnTo>
                  <a:lnTo>
                    <a:pt x="6350" y="148336"/>
                  </a:lnTo>
                  <a:lnTo>
                    <a:pt x="0" y="148336"/>
                  </a:lnTo>
                  <a:moveTo>
                    <a:pt x="12700" y="148336"/>
                  </a:moveTo>
                  <a:lnTo>
                    <a:pt x="12700" y="2856992"/>
                  </a:lnTo>
                  <a:lnTo>
                    <a:pt x="6350" y="2856992"/>
                  </a:lnTo>
                  <a:lnTo>
                    <a:pt x="12700" y="2856992"/>
                  </a:lnTo>
                  <a:cubicBezTo>
                    <a:pt x="12700" y="2931922"/>
                    <a:pt x="73533" y="2992628"/>
                    <a:pt x="148717" y="2992628"/>
                  </a:cubicBezTo>
                  <a:lnTo>
                    <a:pt x="5967603" y="2992628"/>
                  </a:lnTo>
                  <a:cubicBezTo>
                    <a:pt x="6042660" y="2992628"/>
                    <a:pt x="6103620" y="2931922"/>
                    <a:pt x="6103620" y="2856992"/>
                  </a:cubicBezTo>
                  <a:lnTo>
                    <a:pt x="6103620" y="148336"/>
                  </a:lnTo>
                  <a:cubicBezTo>
                    <a:pt x="6103493" y="73406"/>
                    <a:pt x="6042660" y="12700"/>
                    <a:pt x="5967603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406"/>
                    <a:pt x="12700" y="148336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100915" y="4359326"/>
            <a:ext cx="3122266" cy="38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📋</a:t>
            </a: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Missed Follow-Ups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00915" y="4803429"/>
            <a:ext cx="4051402" cy="128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Unresolved tasks and pending labs are lost between teams with no clear ownership trail.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9802" y="6591005"/>
            <a:ext cx="9410405" cy="1854698"/>
            <a:chOff x="0" y="0"/>
            <a:chExt cx="12547206" cy="24729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2534519" cy="2460244"/>
            </a:xfrm>
            <a:custGeom>
              <a:avLst/>
              <a:gdLst/>
              <a:ahLst/>
              <a:cxnLst/>
              <a:rect r="r" b="b" t="t" l="l"/>
              <a:pathLst>
                <a:path h="2460244" w="12534519">
                  <a:moveTo>
                    <a:pt x="0" y="141986"/>
                  </a:moveTo>
                  <a:cubicBezTo>
                    <a:pt x="0" y="63627"/>
                    <a:pt x="63881" y="0"/>
                    <a:pt x="142621" y="0"/>
                  </a:cubicBezTo>
                  <a:lnTo>
                    <a:pt x="12391898" y="0"/>
                  </a:lnTo>
                  <a:cubicBezTo>
                    <a:pt x="12470638" y="0"/>
                    <a:pt x="12534519" y="63627"/>
                    <a:pt x="12534519" y="141986"/>
                  </a:cubicBezTo>
                  <a:lnTo>
                    <a:pt x="12534519" y="2318258"/>
                  </a:lnTo>
                  <a:cubicBezTo>
                    <a:pt x="12534519" y="2396744"/>
                    <a:pt x="12470638" y="2460244"/>
                    <a:pt x="12391898" y="2460244"/>
                  </a:cubicBezTo>
                  <a:lnTo>
                    <a:pt x="142621" y="2460244"/>
                  </a:lnTo>
                  <a:cubicBezTo>
                    <a:pt x="63881" y="2460244"/>
                    <a:pt x="0" y="2396617"/>
                    <a:pt x="0" y="2318258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47219" cy="2472944"/>
            </a:xfrm>
            <a:custGeom>
              <a:avLst/>
              <a:gdLst/>
              <a:ahLst/>
              <a:cxnLst/>
              <a:rect r="r" b="b" t="t" l="l"/>
              <a:pathLst>
                <a:path h="2472944" w="12547219">
                  <a:moveTo>
                    <a:pt x="0" y="148336"/>
                  </a:moveTo>
                  <a:cubicBezTo>
                    <a:pt x="0" y="66421"/>
                    <a:pt x="66675" y="0"/>
                    <a:pt x="148971" y="0"/>
                  </a:cubicBezTo>
                  <a:lnTo>
                    <a:pt x="12398248" y="0"/>
                  </a:lnTo>
                  <a:lnTo>
                    <a:pt x="12398248" y="6350"/>
                  </a:lnTo>
                  <a:lnTo>
                    <a:pt x="12398248" y="0"/>
                  </a:lnTo>
                  <a:cubicBezTo>
                    <a:pt x="12480544" y="0"/>
                    <a:pt x="12547219" y="66421"/>
                    <a:pt x="12547219" y="148336"/>
                  </a:cubicBezTo>
                  <a:lnTo>
                    <a:pt x="12540869" y="148336"/>
                  </a:lnTo>
                  <a:lnTo>
                    <a:pt x="12547219" y="148336"/>
                  </a:lnTo>
                  <a:lnTo>
                    <a:pt x="12547219" y="2324608"/>
                  </a:lnTo>
                  <a:lnTo>
                    <a:pt x="12540869" y="2324608"/>
                  </a:lnTo>
                  <a:lnTo>
                    <a:pt x="12547219" y="2324608"/>
                  </a:lnTo>
                  <a:cubicBezTo>
                    <a:pt x="12547219" y="2406523"/>
                    <a:pt x="12480544" y="2472944"/>
                    <a:pt x="12398248" y="2472944"/>
                  </a:cubicBezTo>
                  <a:lnTo>
                    <a:pt x="12398248" y="2466594"/>
                  </a:lnTo>
                  <a:lnTo>
                    <a:pt x="12398248" y="2472944"/>
                  </a:lnTo>
                  <a:lnTo>
                    <a:pt x="148971" y="2472944"/>
                  </a:lnTo>
                  <a:lnTo>
                    <a:pt x="148971" y="2466594"/>
                  </a:lnTo>
                  <a:lnTo>
                    <a:pt x="148971" y="2472944"/>
                  </a:lnTo>
                  <a:cubicBezTo>
                    <a:pt x="66675" y="2472944"/>
                    <a:pt x="0" y="2406523"/>
                    <a:pt x="0" y="2324608"/>
                  </a:cubicBezTo>
                  <a:lnTo>
                    <a:pt x="0" y="148336"/>
                  </a:lnTo>
                  <a:lnTo>
                    <a:pt x="6350" y="148336"/>
                  </a:lnTo>
                  <a:lnTo>
                    <a:pt x="0" y="148336"/>
                  </a:lnTo>
                  <a:moveTo>
                    <a:pt x="12700" y="148336"/>
                  </a:moveTo>
                  <a:lnTo>
                    <a:pt x="12700" y="2324608"/>
                  </a:lnTo>
                  <a:lnTo>
                    <a:pt x="6350" y="2324608"/>
                  </a:lnTo>
                  <a:lnTo>
                    <a:pt x="12700" y="2324608"/>
                  </a:lnTo>
                  <a:cubicBezTo>
                    <a:pt x="12700" y="2399538"/>
                    <a:pt x="73660" y="2460244"/>
                    <a:pt x="148971" y="2460244"/>
                  </a:cubicBezTo>
                  <a:lnTo>
                    <a:pt x="12398248" y="2460244"/>
                  </a:lnTo>
                  <a:cubicBezTo>
                    <a:pt x="12473559" y="2460244"/>
                    <a:pt x="12534519" y="2399411"/>
                    <a:pt x="12534519" y="2324608"/>
                  </a:cubicBezTo>
                  <a:lnTo>
                    <a:pt x="12534519" y="148336"/>
                  </a:lnTo>
                  <a:cubicBezTo>
                    <a:pt x="12534519" y="73406"/>
                    <a:pt x="12473559" y="12700"/>
                    <a:pt x="12398248" y="12700"/>
                  </a:cubicBezTo>
                  <a:lnTo>
                    <a:pt x="148971" y="12700"/>
                  </a:lnTo>
                  <a:lnTo>
                    <a:pt x="148971" y="6350"/>
                  </a:lnTo>
                  <a:lnTo>
                    <a:pt x="148971" y="12700"/>
                  </a:lnTo>
                  <a:cubicBezTo>
                    <a:pt x="73660" y="12700"/>
                    <a:pt x="12700" y="73533"/>
                    <a:pt x="12700" y="148336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77693" y="6849370"/>
            <a:ext cx="2984002" cy="38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⚠️</a:t>
            </a:r>
            <a:r>
              <a:rPr lang="en-US" sz="2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Medical Errors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7693" y="7293473"/>
            <a:ext cx="8874623" cy="88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Fragmented, siloed data forces clinicians to make high-stakes decisions on incomplete information.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4565" y="8631584"/>
            <a:ext cx="9400880" cy="88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information exists — it's just scattered, unstructured, and impossible to act on in time-sensitive moments.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610916"/>
            <a:ext cx="7645898" cy="78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Why Current Systems Fail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2837707"/>
            <a:ext cx="16193691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EHRs and existing tools were built for documentation — not for real-time clinical collaboration or intelligent handoff support. The result is a system that creates data but doesn't deliver insight.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32872" y="4041277"/>
            <a:ext cx="7994447" cy="2407739"/>
            <a:chOff x="0" y="0"/>
            <a:chExt cx="10659262" cy="3210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10621137" cy="3172206"/>
            </a:xfrm>
            <a:custGeom>
              <a:avLst/>
              <a:gdLst/>
              <a:ahLst/>
              <a:cxnLst/>
              <a:rect r="r" b="b" t="t" l="l"/>
              <a:pathLst>
                <a:path h="3172206" w="10621137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0436733" y="0"/>
                  </a:lnTo>
                  <a:cubicBezTo>
                    <a:pt x="10538587" y="0"/>
                    <a:pt x="10621137" y="81915"/>
                    <a:pt x="10621137" y="182880"/>
                  </a:cubicBezTo>
                  <a:lnTo>
                    <a:pt x="10621137" y="2989326"/>
                  </a:lnTo>
                  <a:cubicBezTo>
                    <a:pt x="10621137" y="3090291"/>
                    <a:pt x="10538587" y="3172206"/>
                    <a:pt x="10436733" y="3172206"/>
                  </a:cubicBezTo>
                  <a:lnTo>
                    <a:pt x="184404" y="3172206"/>
                  </a:lnTo>
                  <a:cubicBezTo>
                    <a:pt x="82550" y="3172206"/>
                    <a:pt x="0" y="3090291"/>
                    <a:pt x="0" y="298932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59237" cy="3210306"/>
            </a:xfrm>
            <a:custGeom>
              <a:avLst/>
              <a:gdLst/>
              <a:ahLst/>
              <a:cxnLst/>
              <a:rect r="r" b="b" t="t" l="l"/>
              <a:pathLst>
                <a:path h="3210306" w="10659237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0455783" y="0"/>
                  </a:lnTo>
                  <a:lnTo>
                    <a:pt x="10455783" y="19050"/>
                  </a:lnTo>
                  <a:lnTo>
                    <a:pt x="10455783" y="0"/>
                  </a:lnTo>
                  <a:cubicBezTo>
                    <a:pt x="10568051" y="0"/>
                    <a:pt x="10659237" y="90297"/>
                    <a:pt x="10659237" y="201930"/>
                  </a:cubicBezTo>
                  <a:lnTo>
                    <a:pt x="10640187" y="201930"/>
                  </a:lnTo>
                  <a:lnTo>
                    <a:pt x="10659237" y="201930"/>
                  </a:lnTo>
                  <a:lnTo>
                    <a:pt x="10659237" y="3008376"/>
                  </a:lnTo>
                  <a:lnTo>
                    <a:pt x="10640187" y="3008376"/>
                  </a:lnTo>
                  <a:lnTo>
                    <a:pt x="10659237" y="3008376"/>
                  </a:lnTo>
                  <a:cubicBezTo>
                    <a:pt x="10659237" y="3120009"/>
                    <a:pt x="10568051" y="3210306"/>
                    <a:pt x="10455783" y="3210306"/>
                  </a:cubicBezTo>
                  <a:lnTo>
                    <a:pt x="10455783" y="3191256"/>
                  </a:lnTo>
                  <a:lnTo>
                    <a:pt x="10455783" y="3210306"/>
                  </a:lnTo>
                  <a:lnTo>
                    <a:pt x="203454" y="3210306"/>
                  </a:lnTo>
                  <a:lnTo>
                    <a:pt x="203454" y="3191256"/>
                  </a:lnTo>
                  <a:lnTo>
                    <a:pt x="203454" y="3210306"/>
                  </a:lnTo>
                  <a:cubicBezTo>
                    <a:pt x="91186" y="3210306"/>
                    <a:pt x="0" y="3120009"/>
                    <a:pt x="0" y="30083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08376"/>
                  </a:lnTo>
                  <a:lnTo>
                    <a:pt x="19050" y="3008376"/>
                  </a:lnTo>
                  <a:lnTo>
                    <a:pt x="38100" y="3008376"/>
                  </a:lnTo>
                  <a:cubicBezTo>
                    <a:pt x="38100" y="3098673"/>
                    <a:pt x="112014" y="3172206"/>
                    <a:pt x="203454" y="3172206"/>
                  </a:cubicBezTo>
                  <a:lnTo>
                    <a:pt x="10455783" y="3172206"/>
                  </a:lnTo>
                  <a:cubicBezTo>
                    <a:pt x="10547223" y="3172206"/>
                    <a:pt x="10621137" y="3098673"/>
                    <a:pt x="10621137" y="3008376"/>
                  </a:cubicBezTo>
                  <a:lnTo>
                    <a:pt x="10621137" y="201930"/>
                  </a:lnTo>
                  <a:cubicBezTo>
                    <a:pt x="10621137" y="111633"/>
                    <a:pt x="10547223" y="38100"/>
                    <a:pt x="10455783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18584" y="4055564"/>
            <a:ext cx="114300" cy="2379164"/>
            <a:chOff x="0" y="0"/>
            <a:chExt cx="152400" cy="3172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3172206"/>
            </a:xfrm>
            <a:custGeom>
              <a:avLst/>
              <a:gdLst/>
              <a:ahLst/>
              <a:cxnLst/>
              <a:rect r="r" b="b" t="t" l="l"/>
              <a:pathLst>
                <a:path h="317220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096006"/>
                  </a:lnTo>
                  <a:cubicBezTo>
                    <a:pt x="152400" y="3138043"/>
                    <a:pt x="118237" y="3172206"/>
                    <a:pt x="76200" y="3172206"/>
                  </a:cubicBezTo>
                  <a:cubicBezTo>
                    <a:pt x="34163" y="3172206"/>
                    <a:pt x="0" y="3138043"/>
                    <a:pt x="0" y="3096006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3245" y="4317359"/>
            <a:ext cx="318462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Data Without Context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245" y="4802238"/>
            <a:ext cx="7299427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EHRs display raw records but cannot surface what's urgent, what changed, or what needs action — leaving interpretation entirely to the clinician.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0529" y="4041277"/>
            <a:ext cx="7994599" cy="2407739"/>
            <a:chOff x="0" y="0"/>
            <a:chExt cx="10659466" cy="32103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621391" cy="3172206"/>
            </a:xfrm>
            <a:custGeom>
              <a:avLst/>
              <a:gdLst/>
              <a:ahLst/>
              <a:cxnLst/>
              <a:rect r="r" b="b" t="t" l="l"/>
              <a:pathLst>
                <a:path h="3172206" w="10621391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0436987" y="0"/>
                  </a:lnTo>
                  <a:cubicBezTo>
                    <a:pt x="10538841" y="0"/>
                    <a:pt x="10621391" y="81915"/>
                    <a:pt x="10621391" y="182880"/>
                  </a:cubicBezTo>
                  <a:lnTo>
                    <a:pt x="10621391" y="2989326"/>
                  </a:lnTo>
                  <a:cubicBezTo>
                    <a:pt x="10621391" y="3090291"/>
                    <a:pt x="10538841" y="3172206"/>
                    <a:pt x="10436987" y="3172206"/>
                  </a:cubicBezTo>
                  <a:lnTo>
                    <a:pt x="184404" y="3172206"/>
                  </a:lnTo>
                  <a:cubicBezTo>
                    <a:pt x="82550" y="3172206"/>
                    <a:pt x="0" y="3090291"/>
                    <a:pt x="0" y="298932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59491" cy="3210306"/>
            </a:xfrm>
            <a:custGeom>
              <a:avLst/>
              <a:gdLst/>
              <a:ahLst/>
              <a:cxnLst/>
              <a:rect r="r" b="b" t="t" l="l"/>
              <a:pathLst>
                <a:path h="3210306" w="10659491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0456037" y="0"/>
                  </a:lnTo>
                  <a:lnTo>
                    <a:pt x="10456037" y="19050"/>
                  </a:lnTo>
                  <a:lnTo>
                    <a:pt x="10456037" y="0"/>
                  </a:lnTo>
                  <a:cubicBezTo>
                    <a:pt x="10568305" y="0"/>
                    <a:pt x="10659491" y="90297"/>
                    <a:pt x="10659491" y="201930"/>
                  </a:cubicBezTo>
                  <a:lnTo>
                    <a:pt x="10640441" y="201930"/>
                  </a:lnTo>
                  <a:lnTo>
                    <a:pt x="10659491" y="201930"/>
                  </a:lnTo>
                  <a:lnTo>
                    <a:pt x="10659491" y="3008376"/>
                  </a:lnTo>
                  <a:lnTo>
                    <a:pt x="10640441" y="3008376"/>
                  </a:lnTo>
                  <a:lnTo>
                    <a:pt x="10659491" y="3008376"/>
                  </a:lnTo>
                  <a:cubicBezTo>
                    <a:pt x="10659491" y="3120009"/>
                    <a:pt x="10568305" y="3210306"/>
                    <a:pt x="10456037" y="3210306"/>
                  </a:cubicBezTo>
                  <a:lnTo>
                    <a:pt x="10456037" y="3191256"/>
                  </a:lnTo>
                  <a:lnTo>
                    <a:pt x="10456037" y="3210306"/>
                  </a:lnTo>
                  <a:lnTo>
                    <a:pt x="203454" y="3210306"/>
                  </a:lnTo>
                  <a:lnTo>
                    <a:pt x="203454" y="3191256"/>
                  </a:lnTo>
                  <a:lnTo>
                    <a:pt x="203454" y="3210306"/>
                  </a:lnTo>
                  <a:cubicBezTo>
                    <a:pt x="91186" y="3210306"/>
                    <a:pt x="0" y="3120009"/>
                    <a:pt x="0" y="30083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08376"/>
                  </a:lnTo>
                  <a:lnTo>
                    <a:pt x="19050" y="3008376"/>
                  </a:lnTo>
                  <a:lnTo>
                    <a:pt x="38100" y="3008376"/>
                  </a:lnTo>
                  <a:cubicBezTo>
                    <a:pt x="38100" y="3098673"/>
                    <a:pt x="112014" y="3172206"/>
                    <a:pt x="203454" y="3172206"/>
                  </a:cubicBezTo>
                  <a:lnTo>
                    <a:pt x="10456037" y="3172206"/>
                  </a:lnTo>
                  <a:cubicBezTo>
                    <a:pt x="10547477" y="3172206"/>
                    <a:pt x="10621391" y="3098673"/>
                    <a:pt x="10621391" y="3008376"/>
                  </a:cubicBezTo>
                  <a:lnTo>
                    <a:pt x="10621391" y="201930"/>
                  </a:lnTo>
                  <a:cubicBezTo>
                    <a:pt x="10621391" y="111633"/>
                    <a:pt x="10547477" y="38100"/>
                    <a:pt x="10456037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46241" y="4055564"/>
            <a:ext cx="114300" cy="2379164"/>
            <a:chOff x="0" y="0"/>
            <a:chExt cx="152400" cy="31722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3172206"/>
            </a:xfrm>
            <a:custGeom>
              <a:avLst/>
              <a:gdLst/>
              <a:ahLst/>
              <a:cxnLst/>
              <a:rect r="r" b="b" t="t" l="l"/>
              <a:pathLst>
                <a:path h="317220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096006"/>
                  </a:lnTo>
                  <a:cubicBezTo>
                    <a:pt x="152400" y="3138043"/>
                    <a:pt x="118237" y="3172206"/>
                    <a:pt x="76200" y="3172206"/>
                  </a:cubicBezTo>
                  <a:cubicBezTo>
                    <a:pt x="34163" y="3172206"/>
                    <a:pt x="0" y="3138043"/>
                    <a:pt x="0" y="3096006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50911" y="4317359"/>
            <a:ext cx="3598812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No Structured Workflow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0911" y="4802238"/>
            <a:ext cx="7299569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Handoff communication is inconsistent and verbal-dependent. There's no standardized, structured process to ensure continuity of care across teams.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32872" y="6682235"/>
            <a:ext cx="7994447" cy="1988934"/>
            <a:chOff x="0" y="0"/>
            <a:chExt cx="10659262" cy="2651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10621264" cy="2613787"/>
            </a:xfrm>
            <a:custGeom>
              <a:avLst/>
              <a:gdLst/>
              <a:ahLst/>
              <a:cxnLst/>
              <a:rect r="r" b="b" t="t" l="l"/>
              <a:pathLst>
                <a:path h="2613787" w="10621264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436352" y="0"/>
                  </a:lnTo>
                  <a:cubicBezTo>
                    <a:pt x="10538460" y="0"/>
                    <a:pt x="10621264" y="81915"/>
                    <a:pt x="10621264" y="182880"/>
                  </a:cubicBezTo>
                  <a:lnTo>
                    <a:pt x="10621264" y="2430907"/>
                  </a:lnTo>
                  <a:cubicBezTo>
                    <a:pt x="10621264" y="2531872"/>
                    <a:pt x="10538460" y="2613787"/>
                    <a:pt x="10436352" y="2613787"/>
                  </a:cubicBezTo>
                  <a:lnTo>
                    <a:pt x="184912" y="2613787"/>
                  </a:lnTo>
                  <a:cubicBezTo>
                    <a:pt x="82804" y="2613787"/>
                    <a:pt x="0" y="2531872"/>
                    <a:pt x="0" y="243090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59364" cy="2651887"/>
            </a:xfrm>
            <a:custGeom>
              <a:avLst/>
              <a:gdLst/>
              <a:ahLst/>
              <a:cxnLst/>
              <a:rect r="r" b="b" t="t" l="l"/>
              <a:pathLst>
                <a:path h="2651887" w="10659364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0455402" y="0"/>
                  </a:lnTo>
                  <a:lnTo>
                    <a:pt x="10455402" y="19050"/>
                  </a:lnTo>
                  <a:lnTo>
                    <a:pt x="10455402" y="0"/>
                  </a:lnTo>
                  <a:cubicBezTo>
                    <a:pt x="10567797" y="0"/>
                    <a:pt x="10659364" y="90170"/>
                    <a:pt x="10659364" y="201930"/>
                  </a:cubicBezTo>
                  <a:lnTo>
                    <a:pt x="10640314" y="201930"/>
                  </a:lnTo>
                  <a:lnTo>
                    <a:pt x="10659364" y="201930"/>
                  </a:lnTo>
                  <a:lnTo>
                    <a:pt x="10659364" y="2449957"/>
                  </a:lnTo>
                  <a:lnTo>
                    <a:pt x="10640314" y="2449957"/>
                  </a:lnTo>
                  <a:lnTo>
                    <a:pt x="10659364" y="2449957"/>
                  </a:lnTo>
                  <a:cubicBezTo>
                    <a:pt x="10659364" y="2561717"/>
                    <a:pt x="10567797" y="2651887"/>
                    <a:pt x="10455402" y="2651887"/>
                  </a:cubicBezTo>
                  <a:lnTo>
                    <a:pt x="10455402" y="2632837"/>
                  </a:lnTo>
                  <a:lnTo>
                    <a:pt x="10455402" y="2651887"/>
                  </a:lnTo>
                  <a:lnTo>
                    <a:pt x="203962" y="2651887"/>
                  </a:lnTo>
                  <a:lnTo>
                    <a:pt x="203962" y="2632837"/>
                  </a:lnTo>
                  <a:lnTo>
                    <a:pt x="203962" y="2651887"/>
                  </a:lnTo>
                  <a:cubicBezTo>
                    <a:pt x="91567" y="2651887"/>
                    <a:pt x="0" y="2561717"/>
                    <a:pt x="0" y="244995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49957"/>
                  </a:lnTo>
                  <a:lnTo>
                    <a:pt x="19050" y="2449957"/>
                  </a:lnTo>
                  <a:lnTo>
                    <a:pt x="38100" y="2449957"/>
                  </a:lnTo>
                  <a:cubicBezTo>
                    <a:pt x="38100" y="2540254"/>
                    <a:pt x="112141" y="2613787"/>
                    <a:pt x="203962" y="2613787"/>
                  </a:cubicBezTo>
                  <a:lnTo>
                    <a:pt x="10455402" y="2613787"/>
                  </a:lnTo>
                  <a:cubicBezTo>
                    <a:pt x="10547223" y="2613787"/>
                    <a:pt x="10621264" y="2540254"/>
                    <a:pt x="10621264" y="2449957"/>
                  </a:cubicBezTo>
                  <a:lnTo>
                    <a:pt x="10621264" y="201930"/>
                  </a:lnTo>
                  <a:cubicBezTo>
                    <a:pt x="10621264" y="111633"/>
                    <a:pt x="10547223" y="38100"/>
                    <a:pt x="10455402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8584" y="6696523"/>
            <a:ext cx="114300" cy="1960359"/>
            <a:chOff x="0" y="0"/>
            <a:chExt cx="152400" cy="26138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00" cy="2613787"/>
            </a:xfrm>
            <a:custGeom>
              <a:avLst/>
              <a:gdLst/>
              <a:ahLst/>
              <a:cxnLst/>
              <a:rect r="r" b="b" t="t" l="l"/>
              <a:pathLst>
                <a:path h="261378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37587"/>
                  </a:lnTo>
                  <a:cubicBezTo>
                    <a:pt x="152400" y="2579624"/>
                    <a:pt x="118237" y="2613787"/>
                    <a:pt x="76200" y="2613787"/>
                  </a:cubicBezTo>
                  <a:cubicBezTo>
                    <a:pt x="34163" y="2613787"/>
                    <a:pt x="0" y="2579624"/>
                    <a:pt x="0" y="2537587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23245" y="6958308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Alert Fatigue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3245" y="7443197"/>
            <a:ext cx="7299427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Current systems fire too many low-priority alerts, causing clinicians to ignore notifications — including the ones that matter most.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60529" y="6682235"/>
            <a:ext cx="7994599" cy="1988934"/>
            <a:chOff x="0" y="0"/>
            <a:chExt cx="10659466" cy="2651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10621391" cy="2613787"/>
            </a:xfrm>
            <a:custGeom>
              <a:avLst/>
              <a:gdLst/>
              <a:ahLst/>
              <a:cxnLst/>
              <a:rect r="r" b="b" t="t" l="l"/>
              <a:pathLst>
                <a:path h="2613787" w="10621391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436479" y="0"/>
                  </a:lnTo>
                  <a:cubicBezTo>
                    <a:pt x="10538587" y="0"/>
                    <a:pt x="10621391" y="81915"/>
                    <a:pt x="10621391" y="182880"/>
                  </a:cubicBezTo>
                  <a:lnTo>
                    <a:pt x="10621391" y="2430907"/>
                  </a:lnTo>
                  <a:cubicBezTo>
                    <a:pt x="10621391" y="2531872"/>
                    <a:pt x="10538587" y="2613787"/>
                    <a:pt x="10436479" y="2613787"/>
                  </a:cubicBezTo>
                  <a:lnTo>
                    <a:pt x="184912" y="2613787"/>
                  </a:lnTo>
                  <a:cubicBezTo>
                    <a:pt x="82804" y="2613787"/>
                    <a:pt x="0" y="2531872"/>
                    <a:pt x="0" y="243090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59491" cy="2651887"/>
            </a:xfrm>
            <a:custGeom>
              <a:avLst/>
              <a:gdLst/>
              <a:ahLst/>
              <a:cxnLst/>
              <a:rect r="r" b="b" t="t" l="l"/>
              <a:pathLst>
                <a:path h="2651887" w="10659491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0455529" y="0"/>
                  </a:lnTo>
                  <a:lnTo>
                    <a:pt x="10455529" y="19050"/>
                  </a:lnTo>
                  <a:lnTo>
                    <a:pt x="10455529" y="0"/>
                  </a:lnTo>
                  <a:cubicBezTo>
                    <a:pt x="10567924" y="0"/>
                    <a:pt x="10659491" y="90170"/>
                    <a:pt x="10659491" y="201930"/>
                  </a:cubicBezTo>
                  <a:lnTo>
                    <a:pt x="10640441" y="201930"/>
                  </a:lnTo>
                  <a:lnTo>
                    <a:pt x="10659491" y="201930"/>
                  </a:lnTo>
                  <a:lnTo>
                    <a:pt x="10659491" y="2449957"/>
                  </a:lnTo>
                  <a:lnTo>
                    <a:pt x="10640441" y="2449957"/>
                  </a:lnTo>
                  <a:lnTo>
                    <a:pt x="10659491" y="2449957"/>
                  </a:lnTo>
                  <a:cubicBezTo>
                    <a:pt x="10659491" y="2561717"/>
                    <a:pt x="10567924" y="2651887"/>
                    <a:pt x="10455529" y="2651887"/>
                  </a:cubicBezTo>
                  <a:lnTo>
                    <a:pt x="10455529" y="2632837"/>
                  </a:lnTo>
                  <a:lnTo>
                    <a:pt x="10455529" y="2651887"/>
                  </a:lnTo>
                  <a:lnTo>
                    <a:pt x="203962" y="2651887"/>
                  </a:lnTo>
                  <a:lnTo>
                    <a:pt x="203962" y="2632837"/>
                  </a:lnTo>
                  <a:lnTo>
                    <a:pt x="203962" y="2651887"/>
                  </a:lnTo>
                  <a:cubicBezTo>
                    <a:pt x="91567" y="2651887"/>
                    <a:pt x="0" y="2561717"/>
                    <a:pt x="0" y="244995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49957"/>
                  </a:lnTo>
                  <a:lnTo>
                    <a:pt x="19050" y="2449957"/>
                  </a:lnTo>
                  <a:lnTo>
                    <a:pt x="38100" y="2449957"/>
                  </a:lnTo>
                  <a:cubicBezTo>
                    <a:pt x="38100" y="2540254"/>
                    <a:pt x="112141" y="2613787"/>
                    <a:pt x="203962" y="2613787"/>
                  </a:cubicBezTo>
                  <a:lnTo>
                    <a:pt x="10455529" y="2613787"/>
                  </a:lnTo>
                  <a:cubicBezTo>
                    <a:pt x="10547350" y="2613787"/>
                    <a:pt x="10621391" y="2540254"/>
                    <a:pt x="10621391" y="2449957"/>
                  </a:cubicBezTo>
                  <a:lnTo>
                    <a:pt x="10621391" y="201930"/>
                  </a:lnTo>
                  <a:cubicBezTo>
                    <a:pt x="10621391" y="111633"/>
                    <a:pt x="10547350" y="38100"/>
                    <a:pt x="10455529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46241" y="6696523"/>
            <a:ext cx="114300" cy="1960359"/>
            <a:chOff x="0" y="0"/>
            <a:chExt cx="152400" cy="26138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2613787"/>
            </a:xfrm>
            <a:custGeom>
              <a:avLst/>
              <a:gdLst/>
              <a:ahLst/>
              <a:cxnLst/>
              <a:rect r="r" b="b" t="t" l="l"/>
              <a:pathLst>
                <a:path h="261378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37587"/>
                  </a:lnTo>
                  <a:cubicBezTo>
                    <a:pt x="152400" y="2579624"/>
                    <a:pt x="118237" y="2613787"/>
                    <a:pt x="76200" y="2613787"/>
                  </a:cubicBezTo>
                  <a:cubicBezTo>
                    <a:pt x="34163" y="2613787"/>
                    <a:pt x="0" y="2579624"/>
                    <a:pt x="0" y="2537587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50911" y="6958308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Zero Explainability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50911" y="7443197"/>
            <a:ext cx="7299569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When a flag is raised, clinicians can't see why. Black-box logic erodes trust and slows clinical adoption of automated tools.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920478"/>
            <a:ext cx="6222654" cy="78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Introducing Aradhya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3147270"/>
            <a:ext cx="16193691" cy="79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Aradhya 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is a secure, intelligent handoff platform that converts fragmented clinical data into structured, explainable, and immediately actionable patient summaries — at every transition of care.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159" y="4365127"/>
            <a:ext cx="3004099" cy="1856632"/>
            <a:chOff x="0" y="0"/>
            <a:chExt cx="4005466" cy="247550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005453" cy="2475484"/>
            </a:xfrm>
            <a:custGeom>
              <a:avLst/>
              <a:gdLst/>
              <a:ahLst/>
              <a:cxnLst/>
              <a:rect r="r" b="b" t="t" l="l"/>
              <a:pathLst>
                <a:path h="2475484" w="4005453">
                  <a:moveTo>
                    <a:pt x="0" y="0"/>
                  </a:moveTo>
                  <a:lnTo>
                    <a:pt x="4005453" y="0"/>
                  </a:lnTo>
                  <a:lnTo>
                    <a:pt x="4005453" y="2475484"/>
                  </a:lnTo>
                  <a:lnTo>
                    <a:pt x="0" y="2475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" r="0" b="-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9" y="6520453"/>
            <a:ext cx="3879952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Smart Handoff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7005342"/>
            <a:ext cx="5179666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single, prioritized view of every patient — surfacing who needs attention, what's changed, and what remains unresolved.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54095" y="4365127"/>
            <a:ext cx="3004099" cy="1856632"/>
            <a:chOff x="0" y="0"/>
            <a:chExt cx="4005466" cy="247550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05453" cy="2475484"/>
            </a:xfrm>
            <a:custGeom>
              <a:avLst/>
              <a:gdLst/>
              <a:ahLst/>
              <a:cxnLst/>
              <a:rect r="r" b="b" t="t" l="l"/>
              <a:pathLst>
                <a:path h="2475484" w="4005453">
                  <a:moveTo>
                    <a:pt x="0" y="0"/>
                  </a:moveTo>
                  <a:lnTo>
                    <a:pt x="4005453" y="0"/>
                  </a:lnTo>
                  <a:lnTo>
                    <a:pt x="4005453" y="2475484"/>
                  </a:lnTo>
                  <a:lnTo>
                    <a:pt x="0" y="2475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2" r="0" b="-8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54095" y="6520453"/>
            <a:ext cx="3782911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Intelligent Risk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54095" y="7005342"/>
            <a:ext cx="5179666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ML models flag high-risk patterns, abnormal trends, and critical status changes with full clinical explainability.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1031" y="4365127"/>
            <a:ext cx="3004242" cy="1856632"/>
            <a:chOff x="0" y="0"/>
            <a:chExt cx="4005656" cy="247550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005707" cy="2475484"/>
            </a:xfrm>
            <a:custGeom>
              <a:avLst/>
              <a:gdLst/>
              <a:ahLst/>
              <a:cxnLst/>
              <a:rect r="r" b="b" t="t" l="l"/>
              <a:pathLst>
                <a:path h="2475484" w="4005707">
                  <a:moveTo>
                    <a:pt x="0" y="0"/>
                  </a:moveTo>
                  <a:lnTo>
                    <a:pt x="4005707" y="0"/>
                  </a:lnTo>
                  <a:lnTo>
                    <a:pt x="4005707" y="2475484"/>
                  </a:lnTo>
                  <a:lnTo>
                    <a:pt x="0" y="2475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4" r="1" b="-8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61031" y="6520453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Task &amp; Alert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1031" y="7005342"/>
            <a:ext cx="5179809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task tracking ensures no follow-up is lost. Targeted, context-aware alerts reach the right clinician at the right time.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2327519"/>
            <a:ext cx="6160446" cy="78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Core Feature Set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47159" y="3640036"/>
            <a:ext cx="523580" cy="523580"/>
          </a:xfrm>
          <a:custGeom>
            <a:avLst/>
            <a:gdLst/>
            <a:ahLst/>
            <a:cxnLst/>
            <a:rect r="r" b="b" t="t" l="l"/>
            <a:pathLst>
              <a:path h="523580" w="523580">
                <a:moveTo>
                  <a:pt x="0" y="0"/>
                </a:moveTo>
                <a:lnTo>
                  <a:pt x="523580" y="0"/>
                </a:lnTo>
                <a:lnTo>
                  <a:pt x="523580" y="523580"/>
                </a:lnTo>
                <a:lnTo>
                  <a:pt x="0" y="523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09" t="0" r="-90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8009" y="3701358"/>
            <a:ext cx="3879952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Smart Handoff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8009" y="4186237"/>
            <a:ext cx="7082285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Real-time, role-based views of patient status aggregated from EHR, labs, vitals, and nursing notes. Clinicians see a ranked, prioritized patient list — not a data dump.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07563" y="3640036"/>
            <a:ext cx="523580" cy="523580"/>
          </a:xfrm>
          <a:custGeom>
            <a:avLst/>
            <a:gdLst/>
            <a:ahLst/>
            <a:cxnLst/>
            <a:rect r="r" b="b" t="t" l="l"/>
            <a:pathLst>
              <a:path h="523580" w="523580">
                <a:moveTo>
                  <a:pt x="0" y="0"/>
                </a:moveTo>
                <a:lnTo>
                  <a:pt x="523580" y="0"/>
                </a:lnTo>
                <a:lnTo>
                  <a:pt x="523580" y="523580"/>
                </a:lnTo>
                <a:lnTo>
                  <a:pt x="0" y="52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453" t="0" r="-545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58412" y="3701358"/>
            <a:ext cx="329430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Risk Detection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58412" y="4186237"/>
            <a:ext cx="7082428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Identifies high-risk gaps, deteriorating trends, and abnormal lab patterns using structured clinical rules and ML scoring — with full reasoning transparency per flag.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47159" y="6051947"/>
            <a:ext cx="523580" cy="523580"/>
          </a:xfrm>
          <a:custGeom>
            <a:avLst/>
            <a:gdLst/>
            <a:ahLst/>
            <a:cxnLst/>
            <a:rect r="r" b="b" t="t" l="l"/>
            <a:pathLst>
              <a:path h="523580" w="523580">
                <a:moveTo>
                  <a:pt x="0" y="0"/>
                </a:moveTo>
                <a:lnTo>
                  <a:pt x="523580" y="0"/>
                </a:lnTo>
                <a:lnTo>
                  <a:pt x="523580" y="523580"/>
                </a:lnTo>
                <a:lnTo>
                  <a:pt x="0" y="523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817" t="0" r="-2181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98009" y="6113259"/>
            <a:ext cx="3224365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Task Tracking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8009" y="6598148"/>
            <a:ext cx="7082285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pending order, follow-up, and care task is captured, assigned, and tracked across shifts. Ownership is explicit — nothing falls through the cracks.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07563" y="6051947"/>
            <a:ext cx="523580" cy="523580"/>
          </a:xfrm>
          <a:custGeom>
            <a:avLst/>
            <a:gdLst/>
            <a:ahLst/>
            <a:cxnLst/>
            <a:rect r="r" b="b" t="t" l="l"/>
            <a:pathLst>
              <a:path h="523580" w="523580">
                <a:moveTo>
                  <a:pt x="0" y="0"/>
                </a:moveTo>
                <a:lnTo>
                  <a:pt x="523580" y="0"/>
                </a:lnTo>
                <a:lnTo>
                  <a:pt x="523580" y="523580"/>
                </a:lnTo>
                <a:lnTo>
                  <a:pt x="0" y="523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8180" r="0" b="-818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158412" y="6113259"/>
            <a:ext cx="401820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Alert &amp; Notification Engine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58412" y="6598148"/>
            <a:ext cx="7082428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Clinically-filtered, priority-ranked notifications delivered via in-app, SMS, or pager integration. Designed to eliminate alert fatigue while ensuring critical signals are never missed.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05127" y="533105"/>
            <a:ext cx="7411345" cy="6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System Architecture &amp; Workflow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5127" y="1429493"/>
            <a:ext cx="14877602" cy="58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Aradhya is built on a modular, cloud-native architecture — integrating with existing EHR systems via FHIR APIs and processing data through a secure intelligence layer before surfacing actionable insights at the point of care.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05127" y="2187331"/>
            <a:ext cx="14877602" cy="6808737"/>
            <a:chOff x="0" y="0"/>
            <a:chExt cx="19836803" cy="90783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836764" cy="9078341"/>
            </a:xfrm>
            <a:custGeom>
              <a:avLst/>
              <a:gdLst/>
              <a:ahLst/>
              <a:cxnLst/>
              <a:rect r="r" b="b" t="t" l="l"/>
              <a:pathLst>
                <a:path h="9078341" w="19836764">
                  <a:moveTo>
                    <a:pt x="0" y="0"/>
                  </a:moveTo>
                  <a:lnTo>
                    <a:pt x="19836764" y="0"/>
                  </a:lnTo>
                  <a:lnTo>
                    <a:pt x="19836764" y="9078341"/>
                  </a:lnTo>
                  <a:lnTo>
                    <a:pt x="0" y="9078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" r="0" b="-1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03070" y="3101035"/>
            <a:ext cx="3097301" cy="3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Action &amp; Audit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3070" y="3633559"/>
            <a:ext cx="3627539" cy="55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Alerts, handoffs, encrypted logs, HIPAA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4563" y="5484343"/>
            <a:ext cx="3097301" cy="3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Data Ingestion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6876" y="6016876"/>
            <a:ext cx="3334998" cy="26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EHR, labs, vitals via FHIR/HL7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3070" y="6639897"/>
            <a:ext cx="3097301" cy="3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Core 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03070" y="7172420"/>
            <a:ext cx="3627539" cy="26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Risk scoring, NLP, task extraction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5127" y="9149658"/>
            <a:ext cx="14877602" cy="58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layer is independently scalable and auditable, enabling rapid deployment in both community hospitals and large health systems without disrupting existing clinical workflows.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301506"/>
            <a:ext cx="14142987" cy="78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User Workflow: From Shift Start to Safe Handoff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2528297"/>
            <a:ext cx="16193691" cy="50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Aradhya guides clinicians through every step of their shift — from receiving a structured handoff summary to closing out tasks before transition.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2397" y="3322587"/>
            <a:ext cx="7975397" cy="794890"/>
            <a:chOff x="0" y="0"/>
            <a:chExt cx="10633862" cy="1059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621264" cy="1047242"/>
            </a:xfrm>
            <a:custGeom>
              <a:avLst/>
              <a:gdLst/>
              <a:ahLst/>
              <a:cxnLst/>
              <a:rect r="r" b="b" t="t" l="l"/>
              <a:pathLst>
                <a:path h="1047242" w="10621264">
                  <a:moveTo>
                    <a:pt x="0" y="523621"/>
                  </a:moveTo>
                  <a:cubicBezTo>
                    <a:pt x="0" y="234442"/>
                    <a:pt x="236982" y="0"/>
                    <a:pt x="529336" y="0"/>
                  </a:cubicBezTo>
                  <a:lnTo>
                    <a:pt x="10091928" y="0"/>
                  </a:lnTo>
                  <a:cubicBezTo>
                    <a:pt x="10384282" y="0"/>
                    <a:pt x="10621264" y="234442"/>
                    <a:pt x="10621264" y="523621"/>
                  </a:cubicBezTo>
                  <a:cubicBezTo>
                    <a:pt x="10621264" y="812800"/>
                    <a:pt x="10384282" y="1047242"/>
                    <a:pt x="10091928" y="1047242"/>
                  </a:cubicBezTo>
                  <a:lnTo>
                    <a:pt x="529336" y="1047242"/>
                  </a:lnTo>
                  <a:cubicBezTo>
                    <a:pt x="23698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33964" cy="1059942"/>
            </a:xfrm>
            <a:custGeom>
              <a:avLst/>
              <a:gdLst/>
              <a:ahLst/>
              <a:cxnLst/>
              <a:rect r="r" b="b" t="t" l="l"/>
              <a:pathLst>
                <a:path h="1059942" w="10633964">
                  <a:moveTo>
                    <a:pt x="0" y="529971"/>
                  </a:moveTo>
                  <a:cubicBezTo>
                    <a:pt x="0" y="237236"/>
                    <a:pt x="239903" y="0"/>
                    <a:pt x="535686" y="0"/>
                  </a:cubicBezTo>
                  <a:lnTo>
                    <a:pt x="10098278" y="0"/>
                  </a:lnTo>
                  <a:lnTo>
                    <a:pt x="10098278" y="6350"/>
                  </a:lnTo>
                  <a:lnTo>
                    <a:pt x="10098278" y="0"/>
                  </a:lnTo>
                  <a:cubicBezTo>
                    <a:pt x="10394061" y="0"/>
                    <a:pt x="10633964" y="237236"/>
                    <a:pt x="10633964" y="529971"/>
                  </a:cubicBezTo>
                  <a:lnTo>
                    <a:pt x="10627614" y="529971"/>
                  </a:lnTo>
                  <a:lnTo>
                    <a:pt x="10633964" y="529971"/>
                  </a:lnTo>
                  <a:lnTo>
                    <a:pt x="10627614" y="529971"/>
                  </a:lnTo>
                  <a:lnTo>
                    <a:pt x="10633964" y="529971"/>
                  </a:lnTo>
                  <a:cubicBezTo>
                    <a:pt x="10633964" y="822706"/>
                    <a:pt x="10394061" y="1059942"/>
                    <a:pt x="10098278" y="1059942"/>
                  </a:cubicBezTo>
                  <a:lnTo>
                    <a:pt x="10098278" y="1053592"/>
                  </a:lnTo>
                  <a:lnTo>
                    <a:pt x="10098278" y="1059942"/>
                  </a:lnTo>
                  <a:lnTo>
                    <a:pt x="535686" y="1059942"/>
                  </a:lnTo>
                  <a:lnTo>
                    <a:pt x="535686" y="1053592"/>
                  </a:lnTo>
                  <a:lnTo>
                    <a:pt x="535686" y="1059942"/>
                  </a:lnTo>
                  <a:cubicBezTo>
                    <a:pt x="239903" y="1059815"/>
                    <a:pt x="0" y="822706"/>
                    <a:pt x="0" y="529971"/>
                  </a:cubicBezTo>
                  <a:lnTo>
                    <a:pt x="6350" y="529971"/>
                  </a:lnTo>
                  <a:lnTo>
                    <a:pt x="0" y="529971"/>
                  </a:lnTo>
                  <a:moveTo>
                    <a:pt x="12700" y="529971"/>
                  </a:moveTo>
                  <a:lnTo>
                    <a:pt x="6350" y="529971"/>
                  </a:lnTo>
                  <a:lnTo>
                    <a:pt x="12700" y="529971"/>
                  </a:lnTo>
                  <a:cubicBezTo>
                    <a:pt x="12700" y="815467"/>
                    <a:pt x="246761" y="1047115"/>
                    <a:pt x="535686" y="1047115"/>
                  </a:cubicBezTo>
                  <a:lnTo>
                    <a:pt x="10098278" y="1047115"/>
                  </a:lnTo>
                  <a:cubicBezTo>
                    <a:pt x="10387203" y="1047115"/>
                    <a:pt x="10621264" y="815467"/>
                    <a:pt x="10621264" y="529844"/>
                  </a:cubicBezTo>
                  <a:cubicBezTo>
                    <a:pt x="10621264" y="244221"/>
                    <a:pt x="10387076" y="12700"/>
                    <a:pt x="10098278" y="12700"/>
                  </a:cubicBezTo>
                  <a:lnTo>
                    <a:pt x="535686" y="12700"/>
                  </a:lnTo>
                  <a:lnTo>
                    <a:pt x="535686" y="6350"/>
                  </a:lnTo>
                  <a:lnTo>
                    <a:pt x="535686" y="12700"/>
                  </a:lnTo>
                  <a:cubicBezTo>
                    <a:pt x="246761" y="12700"/>
                    <a:pt x="12700" y="244348"/>
                    <a:pt x="12700" y="529971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4833785" y="3523659"/>
            <a:ext cx="392611" cy="392611"/>
          </a:xfrm>
          <a:custGeom>
            <a:avLst/>
            <a:gdLst/>
            <a:ahLst/>
            <a:cxnLst/>
            <a:rect r="r" b="b" t="t" l="l"/>
            <a:pathLst>
              <a:path h="392611" w="392611">
                <a:moveTo>
                  <a:pt x="0" y="0"/>
                </a:moveTo>
                <a:lnTo>
                  <a:pt x="392611" y="0"/>
                </a:lnTo>
                <a:lnTo>
                  <a:pt x="392611" y="392611"/>
                </a:lnTo>
                <a:lnTo>
                  <a:pt x="0" y="392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571" t="0" r="-357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08945" y="4345934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Secure Sign-In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8945" y="4830813"/>
            <a:ext cx="7442302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Clinician logs in with role-based SSO. Patient panel auto-populates based on unit assignment.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0054" y="3322587"/>
            <a:ext cx="7975549" cy="794890"/>
            <a:chOff x="0" y="0"/>
            <a:chExt cx="10634066" cy="10598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10621391" cy="1047242"/>
            </a:xfrm>
            <a:custGeom>
              <a:avLst/>
              <a:gdLst/>
              <a:ahLst/>
              <a:cxnLst/>
              <a:rect r="r" b="b" t="t" l="l"/>
              <a:pathLst>
                <a:path h="1047242" w="10621391">
                  <a:moveTo>
                    <a:pt x="0" y="523621"/>
                  </a:moveTo>
                  <a:cubicBezTo>
                    <a:pt x="0" y="234442"/>
                    <a:pt x="236982" y="0"/>
                    <a:pt x="529336" y="0"/>
                  </a:cubicBezTo>
                  <a:lnTo>
                    <a:pt x="10092055" y="0"/>
                  </a:lnTo>
                  <a:cubicBezTo>
                    <a:pt x="10384410" y="0"/>
                    <a:pt x="10621391" y="234442"/>
                    <a:pt x="10621391" y="523621"/>
                  </a:cubicBezTo>
                  <a:cubicBezTo>
                    <a:pt x="10621391" y="812800"/>
                    <a:pt x="10384410" y="1047242"/>
                    <a:pt x="10092055" y="1047242"/>
                  </a:cubicBezTo>
                  <a:lnTo>
                    <a:pt x="529336" y="1047242"/>
                  </a:lnTo>
                  <a:cubicBezTo>
                    <a:pt x="23698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34091" cy="1059942"/>
            </a:xfrm>
            <a:custGeom>
              <a:avLst/>
              <a:gdLst/>
              <a:ahLst/>
              <a:cxnLst/>
              <a:rect r="r" b="b" t="t" l="l"/>
              <a:pathLst>
                <a:path h="1059942" w="10634091">
                  <a:moveTo>
                    <a:pt x="0" y="529971"/>
                  </a:moveTo>
                  <a:cubicBezTo>
                    <a:pt x="0" y="237236"/>
                    <a:pt x="239903" y="0"/>
                    <a:pt x="535686" y="0"/>
                  </a:cubicBezTo>
                  <a:lnTo>
                    <a:pt x="10098405" y="0"/>
                  </a:lnTo>
                  <a:lnTo>
                    <a:pt x="10098405" y="6350"/>
                  </a:lnTo>
                  <a:lnTo>
                    <a:pt x="10098405" y="0"/>
                  </a:lnTo>
                  <a:cubicBezTo>
                    <a:pt x="10394188" y="0"/>
                    <a:pt x="10634091" y="237236"/>
                    <a:pt x="10634091" y="529971"/>
                  </a:cubicBezTo>
                  <a:lnTo>
                    <a:pt x="10627741" y="529971"/>
                  </a:lnTo>
                  <a:lnTo>
                    <a:pt x="10634091" y="529971"/>
                  </a:lnTo>
                  <a:lnTo>
                    <a:pt x="10627741" y="529971"/>
                  </a:lnTo>
                  <a:lnTo>
                    <a:pt x="10634091" y="529971"/>
                  </a:lnTo>
                  <a:cubicBezTo>
                    <a:pt x="10634091" y="822706"/>
                    <a:pt x="10394188" y="1059942"/>
                    <a:pt x="10098405" y="1059942"/>
                  </a:cubicBezTo>
                  <a:lnTo>
                    <a:pt x="10098405" y="1053592"/>
                  </a:lnTo>
                  <a:lnTo>
                    <a:pt x="10098405" y="1059942"/>
                  </a:lnTo>
                  <a:lnTo>
                    <a:pt x="535686" y="1059942"/>
                  </a:lnTo>
                  <a:lnTo>
                    <a:pt x="535686" y="1053592"/>
                  </a:lnTo>
                  <a:lnTo>
                    <a:pt x="535686" y="1059942"/>
                  </a:lnTo>
                  <a:cubicBezTo>
                    <a:pt x="239903" y="1059815"/>
                    <a:pt x="0" y="822706"/>
                    <a:pt x="0" y="529971"/>
                  </a:cubicBezTo>
                  <a:lnTo>
                    <a:pt x="6350" y="529971"/>
                  </a:lnTo>
                  <a:lnTo>
                    <a:pt x="0" y="529971"/>
                  </a:lnTo>
                  <a:moveTo>
                    <a:pt x="12700" y="529971"/>
                  </a:moveTo>
                  <a:lnTo>
                    <a:pt x="6350" y="529971"/>
                  </a:lnTo>
                  <a:lnTo>
                    <a:pt x="12700" y="529971"/>
                  </a:lnTo>
                  <a:cubicBezTo>
                    <a:pt x="12700" y="815467"/>
                    <a:pt x="246761" y="1047115"/>
                    <a:pt x="535686" y="1047115"/>
                  </a:cubicBezTo>
                  <a:lnTo>
                    <a:pt x="10098405" y="1047115"/>
                  </a:lnTo>
                  <a:cubicBezTo>
                    <a:pt x="10387330" y="1047115"/>
                    <a:pt x="10621391" y="815467"/>
                    <a:pt x="10621391" y="529844"/>
                  </a:cubicBezTo>
                  <a:cubicBezTo>
                    <a:pt x="10621391" y="244221"/>
                    <a:pt x="10387330" y="12700"/>
                    <a:pt x="10098405" y="12700"/>
                  </a:cubicBezTo>
                  <a:lnTo>
                    <a:pt x="535686" y="12700"/>
                  </a:lnTo>
                  <a:lnTo>
                    <a:pt x="535686" y="6350"/>
                  </a:lnTo>
                  <a:lnTo>
                    <a:pt x="535686" y="12700"/>
                  </a:lnTo>
                  <a:cubicBezTo>
                    <a:pt x="246761" y="12700"/>
                    <a:pt x="12700" y="244348"/>
                    <a:pt x="12700" y="529971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3061452" y="3523659"/>
            <a:ext cx="392611" cy="392611"/>
          </a:xfrm>
          <a:custGeom>
            <a:avLst/>
            <a:gdLst/>
            <a:ahLst/>
            <a:cxnLst/>
            <a:rect r="r" b="b" t="t" l="l"/>
            <a:pathLst>
              <a:path h="392611" w="392611">
                <a:moveTo>
                  <a:pt x="0" y="0"/>
                </a:moveTo>
                <a:lnTo>
                  <a:pt x="392610" y="0"/>
                </a:lnTo>
                <a:lnTo>
                  <a:pt x="392610" y="392611"/>
                </a:lnTo>
                <a:lnTo>
                  <a:pt x="0" y="392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91" r="0" b="-118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536611" y="4345934"/>
            <a:ext cx="3906441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Review Handoff Summary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6611" y="4830813"/>
            <a:ext cx="7442444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AI-generated patient summaries highlight changes since last shift, open tasks, and risk flags with reasoning.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42397" y="6272955"/>
            <a:ext cx="7975397" cy="794890"/>
            <a:chOff x="0" y="0"/>
            <a:chExt cx="10633862" cy="10598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0621264" cy="1047242"/>
            </a:xfrm>
            <a:custGeom>
              <a:avLst/>
              <a:gdLst/>
              <a:ahLst/>
              <a:cxnLst/>
              <a:rect r="r" b="b" t="t" l="l"/>
              <a:pathLst>
                <a:path h="1047242" w="10621264">
                  <a:moveTo>
                    <a:pt x="0" y="523621"/>
                  </a:moveTo>
                  <a:cubicBezTo>
                    <a:pt x="0" y="234442"/>
                    <a:pt x="236982" y="0"/>
                    <a:pt x="529336" y="0"/>
                  </a:cubicBezTo>
                  <a:lnTo>
                    <a:pt x="10091928" y="0"/>
                  </a:lnTo>
                  <a:cubicBezTo>
                    <a:pt x="10384282" y="0"/>
                    <a:pt x="10621264" y="234442"/>
                    <a:pt x="10621264" y="523621"/>
                  </a:cubicBezTo>
                  <a:cubicBezTo>
                    <a:pt x="10621264" y="812800"/>
                    <a:pt x="10384282" y="1047242"/>
                    <a:pt x="10091928" y="1047242"/>
                  </a:cubicBezTo>
                  <a:lnTo>
                    <a:pt x="529336" y="1047242"/>
                  </a:lnTo>
                  <a:cubicBezTo>
                    <a:pt x="23698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33964" cy="1059942"/>
            </a:xfrm>
            <a:custGeom>
              <a:avLst/>
              <a:gdLst/>
              <a:ahLst/>
              <a:cxnLst/>
              <a:rect r="r" b="b" t="t" l="l"/>
              <a:pathLst>
                <a:path h="1059942" w="10633964">
                  <a:moveTo>
                    <a:pt x="0" y="529971"/>
                  </a:moveTo>
                  <a:cubicBezTo>
                    <a:pt x="0" y="237236"/>
                    <a:pt x="239903" y="0"/>
                    <a:pt x="535686" y="0"/>
                  </a:cubicBezTo>
                  <a:lnTo>
                    <a:pt x="10098278" y="0"/>
                  </a:lnTo>
                  <a:lnTo>
                    <a:pt x="10098278" y="6350"/>
                  </a:lnTo>
                  <a:lnTo>
                    <a:pt x="10098278" y="0"/>
                  </a:lnTo>
                  <a:cubicBezTo>
                    <a:pt x="10394061" y="0"/>
                    <a:pt x="10633964" y="237236"/>
                    <a:pt x="10633964" y="529971"/>
                  </a:cubicBezTo>
                  <a:lnTo>
                    <a:pt x="10627614" y="529971"/>
                  </a:lnTo>
                  <a:lnTo>
                    <a:pt x="10633964" y="529971"/>
                  </a:lnTo>
                  <a:lnTo>
                    <a:pt x="10627614" y="529971"/>
                  </a:lnTo>
                  <a:lnTo>
                    <a:pt x="10633964" y="529971"/>
                  </a:lnTo>
                  <a:cubicBezTo>
                    <a:pt x="10633964" y="822706"/>
                    <a:pt x="10394061" y="1059942"/>
                    <a:pt x="10098278" y="1059942"/>
                  </a:cubicBezTo>
                  <a:lnTo>
                    <a:pt x="10098278" y="1053592"/>
                  </a:lnTo>
                  <a:lnTo>
                    <a:pt x="10098278" y="1059942"/>
                  </a:lnTo>
                  <a:lnTo>
                    <a:pt x="535686" y="1059942"/>
                  </a:lnTo>
                  <a:lnTo>
                    <a:pt x="535686" y="1053592"/>
                  </a:lnTo>
                  <a:lnTo>
                    <a:pt x="535686" y="1059942"/>
                  </a:lnTo>
                  <a:cubicBezTo>
                    <a:pt x="239903" y="1059815"/>
                    <a:pt x="0" y="822706"/>
                    <a:pt x="0" y="529971"/>
                  </a:cubicBezTo>
                  <a:lnTo>
                    <a:pt x="6350" y="529971"/>
                  </a:lnTo>
                  <a:lnTo>
                    <a:pt x="0" y="529971"/>
                  </a:lnTo>
                  <a:moveTo>
                    <a:pt x="12700" y="529971"/>
                  </a:moveTo>
                  <a:lnTo>
                    <a:pt x="6350" y="529971"/>
                  </a:lnTo>
                  <a:lnTo>
                    <a:pt x="12700" y="529971"/>
                  </a:lnTo>
                  <a:cubicBezTo>
                    <a:pt x="12700" y="815467"/>
                    <a:pt x="246761" y="1047115"/>
                    <a:pt x="535686" y="1047115"/>
                  </a:cubicBezTo>
                  <a:lnTo>
                    <a:pt x="10098278" y="1047115"/>
                  </a:lnTo>
                  <a:cubicBezTo>
                    <a:pt x="10387203" y="1047115"/>
                    <a:pt x="10621264" y="815467"/>
                    <a:pt x="10621264" y="529844"/>
                  </a:cubicBezTo>
                  <a:cubicBezTo>
                    <a:pt x="10621264" y="244221"/>
                    <a:pt x="10387076" y="12700"/>
                    <a:pt x="10098278" y="12700"/>
                  </a:cubicBezTo>
                  <a:lnTo>
                    <a:pt x="535686" y="12700"/>
                  </a:lnTo>
                  <a:lnTo>
                    <a:pt x="535686" y="6350"/>
                  </a:lnTo>
                  <a:lnTo>
                    <a:pt x="535686" y="12700"/>
                  </a:lnTo>
                  <a:cubicBezTo>
                    <a:pt x="246761" y="12700"/>
                    <a:pt x="12700" y="244348"/>
                    <a:pt x="12700" y="529971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4833785" y="6474028"/>
            <a:ext cx="392611" cy="392611"/>
          </a:xfrm>
          <a:custGeom>
            <a:avLst/>
            <a:gdLst/>
            <a:ahLst/>
            <a:cxnLst/>
            <a:rect r="r" b="b" t="t" l="l"/>
            <a:pathLst>
              <a:path h="392611" w="392611">
                <a:moveTo>
                  <a:pt x="0" y="0"/>
                </a:moveTo>
                <a:lnTo>
                  <a:pt x="392611" y="0"/>
                </a:lnTo>
                <a:lnTo>
                  <a:pt x="392611" y="392611"/>
                </a:lnTo>
                <a:lnTo>
                  <a:pt x="0" y="3926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571" r="0" b="-3571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08945" y="7296302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Act on Alerts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8945" y="7781182"/>
            <a:ext cx="7442302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Prioritized alerts prompt immediate action — acknowledge, escalate, or delegate with one tap.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70054" y="6272955"/>
            <a:ext cx="7975549" cy="794890"/>
            <a:chOff x="0" y="0"/>
            <a:chExt cx="10634066" cy="10598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10621391" cy="1047242"/>
            </a:xfrm>
            <a:custGeom>
              <a:avLst/>
              <a:gdLst/>
              <a:ahLst/>
              <a:cxnLst/>
              <a:rect r="r" b="b" t="t" l="l"/>
              <a:pathLst>
                <a:path h="1047242" w="10621391">
                  <a:moveTo>
                    <a:pt x="0" y="523621"/>
                  </a:moveTo>
                  <a:cubicBezTo>
                    <a:pt x="0" y="234442"/>
                    <a:pt x="236982" y="0"/>
                    <a:pt x="529336" y="0"/>
                  </a:cubicBezTo>
                  <a:lnTo>
                    <a:pt x="10092055" y="0"/>
                  </a:lnTo>
                  <a:cubicBezTo>
                    <a:pt x="10384410" y="0"/>
                    <a:pt x="10621391" y="234442"/>
                    <a:pt x="10621391" y="523621"/>
                  </a:cubicBezTo>
                  <a:cubicBezTo>
                    <a:pt x="10621391" y="812800"/>
                    <a:pt x="10384410" y="1047242"/>
                    <a:pt x="10092055" y="1047242"/>
                  </a:cubicBezTo>
                  <a:lnTo>
                    <a:pt x="529336" y="1047242"/>
                  </a:lnTo>
                  <a:cubicBezTo>
                    <a:pt x="236982" y="1047115"/>
                    <a:pt x="0" y="812800"/>
                    <a:pt x="0" y="523621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34091" cy="1059942"/>
            </a:xfrm>
            <a:custGeom>
              <a:avLst/>
              <a:gdLst/>
              <a:ahLst/>
              <a:cxnLst/>
              <a:rect r="r" b="b" t="t" l="l"/>
              <a:pathLst>
                <a:path h="1059942" w="10634091">
                  <a:moveTo>
                    <a:pt x="0" y="529971"/>
                  </a:moveTo>
                  <a:cubicBezTo>
                    <a:pt x="0" y="237236"/>
                    <a:pt x="239903" y="0"/>
                    <a:pt x="535686" y="0"/>
                  </a:cubicBezTo>
                  <a:lnTo>
                    <a:pt x="10098405" y="0"/>
                  </a:lnTo>
                  <a:lnTo>
                    <a:pt x="10098405" y="6350"/>
                  </a:lnTo>
                  <a:lnTo>
                    <a:pt x="10098405" y="0"/>
                  </a:lnTo>
                  <a:cubicBezTo>
                    <a:pt x="10394188" y="0"/>
                    <a:pt x="10634091" y="237236"/>
                    <a:pt x="10634091" y="529971"/>
                  </a:cubicBezTo>
                  <a:lnTo>
                    <a:pt x="10627741" y="529971"/>
                  </a:lnTo>
                  <a:lnTo>
                    <a:pt x="10634091" y="529971"/>
                  </a:lnTo>
                  <a:lnTo>
                    <a:pt x="10627741" y="529971"/>
                  </a:lnTo>
                  <a:lnTo>
                    <a:pt x="10634091" y="529971"/>
                  </a:lnTo>
                  <a:cubicBezTo>
                    <a:pt x="10634091" y="822706"/>
                    <a:pt x="10394188" y="1059942"/>
                    <a:pt x="10098405" y="1059942"/>
                  </a:cubicBezTo>
                  <a:lnTo>
                    <a:pt x="10098405" y="1053592"/>
                  </a:lnTo>
                  <a:lnTo>
                    <a:pt x="10098405" y="1059942"/>
                  </a:lnTo>
                  <a:lnTo>
                    <a:pt x="535686" y="1059942"/>
                  </a:lnTo>
                  <a:lnTo>
                    <a:pt x="535686" y="1053592"/>
                  </a:lnTo>
                  <a:lnTo>
                    <a:pt x="535686" y="1059942"/>
                  </a:lnTo>
                  <a:cubicBezTo>
                    <a:pt x="239903" y="1059815"/>
                    <a:pt x="0" y="822706"/>
                    <a:pt x="0" y="529971"/>
                  </a:cubicBezTo>
                  <a:lnTo>
                    <a:pt x="6350" y="529971"/>
                  </a:lnTo>
                  <a:lnTo>
                    <a:pt x="0" y="529971"/>
                  </a:lnTo>
                  <a:moveTo>
                    <a:pt x="12700" y="529971"/>
                  </a:moveTo>
                  <a:lnTo>
                    <a:pt x="6350" y="529971"/>
                  </a:lnTo>
                  <a:lnTo>
                    <a:pt x="12700" y="529971"/>
                  </a:lnTo>
                  <a:cubicBezTo>
                    <a:pt x="12700" y="815467"/>
                    <a:pt x="246761" y="1047115"/>
                    <a:pt x="535686" y="1047115"/>
                  </a:cubicBezTo>
                  <a:lnTo>
                    <a:pt x="10098405" y="1047115"/>
                  </a:lnTo>
                  <a:cubicBezTo>
                    <a:pt x="10387330" y="1047115"/>
                    <a:pt x="10621391" y="815467"/>
                    <a:pt x="10621391" y="529844"/>
                  </a:cubicBezTo>
                  <a:cubicBezTo>
                    <a:pt x="10621391" y="244221"/>
                    <a:pt x="10387330" y="12700"/>
                    <a:pt x="10098405" y="12700"/>
                  </a:cubicBezTo>
                  <a:lnTo>
                    <a:pt x="535686" y="12700"/>
                  </a:lnTo>
                  <a:lnTo>
                    <a:pt x="535686" y="6350"/>
                  </a:lnTo>
                  <a:lnTo>
                    <a:pt x="535686" y="12700"/>
                  </a:lnTo>
                  <a:cubicBezTo>
                    <a:pt x="246761" y="12700"/>
                    <a:pt x="12700" y="244348"/>
                    <a:pt x="12700" y="529971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3061452" y="6474028"/>
            <a:ext cx="392611" cy="392611"/>
          </a:xfrm>
          <a:custGeom>
            <a:avLst/>
            <a:gdLst/>
            <a:ahLst/>
            <a:cxnLst/>
            <a:rect r="r" b="b" t="t" l="l"/>
            <a:pathLst>
              <a:path h="392611" w="392611">
                <a:moveTo>
                  <a:pt x="0" y="0"/>
                </a:moveTo>
                <a:lnTo>
                  <a:pt x="392610" y="0"/>
                </a:lnTo>
                <a:lnTo>
                  <a:pt x="392610" y="392611"/>
                </a:lnTo>
                <a:lnTo>
                  <a:pt x="0" y="392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191" t="0" r="-1188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536611" y="7296302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Close &amp; Transfer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36611" y="7781182"/>
            <a:ext cx="7442444" cy="9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Before shift end, clinician reviews outstanding tasks, adds notes, and transfers ownership — fully documented and traceable.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159" y="1232297"/>
            <a:ext cx="2855709" cy="491881"/>
            <a:chOff x="0" y="0"/>
            <a:chExt cx="3807612" cy="6558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7714" cy="655828"/>
            </a:xfrm>
            <a:custGeom>
              <a:avLst/>
              <a:gdLst/>
              <a:ahLst/>
              <a:cxnLst/>
              <a:rect r="r" b="b" t="t" l="l"/>
              <a:pathLst>
                <a:path h="655828" w="3807714">
                  <a:moveTo>
                    <a:pt x="0" y="117348"/>
                  </a:moveTo>
                  <a:cubicBezTo>
                    <a:pt x="0" y="52578"/>
                    <a:pt x="52578" y="0"/>
                    <a:pt x="117348" y="0"/>
                  </a:cubicBezTo>
                  <a:lnTo>
                    <a:pt x="3690366" y="0"/>
                  </a:lnTo>
                  <a:cubicBezTo>
                    <a:pt x="3755136" y="0"/>
                    <a:pt x="3807714" y="52578"/>
                    <a:pt x="3807714" y="117348"/>
                  </a:cubicBezTo>
                  <a:lnTo>
                    <a:pt x="3807714" y="538480"/>
                  </a:lnTo>
                  <a:cubicBezTo>
                    <a:pt x="3807714" y="603250"/>
                    <a:pt x="3755136" y="655828"/>
                    <a:pt x="3690366" y="655828"/>
                  </a:cubicBezTo>
                  <a:lnTo>
                    <a:pt x="117348" y="655828"/>
                  </a:lnTo>
                  <a:cubicBezTo>
                    <a:pt x="52578" y="655828"/>
                    <a:pt x="0" y="603377"/>
                    <a:pt x="0" y="538480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204170" y="1373534"/>
            <a:ext cx="209398" cy="209398"/>
          </a:xfrm>
          <a:custGeom>
            <a:avLst/>
            <a:gdLst/>
            <a:ahLst/>
            <a:cxnLst/>
            <a:rect r="r" b="b" t="t" l="l"/>
            <a:pathLst>
              <a:path h="209398" w="209398">
                <a:moveTo>
                  <a:pt x="0" y="0"/>
                </a:moveTo>
                <a:lnTo>
                  <a:pt x="209397" y="0"/>
                </a:lnTo>
                <a:lnTo>
                  <a:pt x="209397" y="209397"/>
                </a:lnTo>
                <a:lnTo>
                  <a:pt x="0" y="20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74" r="0" b="-227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8199" y="1244051"/>
            <a:ext cx="2227659" cy="40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SECURITY &amp; COMPLIANCE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1809750"/>
            <a:ext cx="8619087" cy="155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Built for Healthcare-Grade Security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3544643"/>
            <a:ext cx="8619087" cy="13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Aradhya was designed from the ground up with HIPAA compliance, clinical privacy standards, and enterprise security requirements baked into every layer — not bolted on after the fact.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9" y="5036639"/>
            <a:ext cx="8619087" cy="422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End-to-end encryption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AES-256 at rest, TLS 1.3 in transit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Role-based access control (RBAC)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clinicians see only what their role permits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Full audit logging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every view, alert, and action is timestamped and immutable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HIPAA &amp; HITECH compliant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BAA-ready for enterprise health system deployment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PHI de-identification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anonymization pipelines for analytics and ML training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125970" y="937765"/>
            <a:ext cx="7312971" cy="8411470"/>
            <a:chOff x="0" y="0"/>
            <a:chExt cx="9750628" cy="112152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0551" cy="11215243"/>
            </a:xfrm>
            <a:custGeom>
              <a:avLst/>
              <a:gdLst/>
              <a:ahLst/>
              <a:cxnLst/>
              <a:rect r="r" b="b" t="t" l="l"/>
              <a:pathLst>
                <a:path h="11215243" w="97505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9499219" y="0"/>
                  </a:lnTo>
                  <a:cubicBezTo>
                    <a:pt x="9638030" y="0"/>
                    <a:pt x="9750551" y="112522"/>
                    <a:pt x="9750551" y="251333"/>
                  </a:cubicBezTo>
                  <a:lnTo>
                    <a:pt x="9750551" y="10963910"/>
                  </a:lnTo>
                  <a:cubicBezTo>
                    <a:pt x="9750551" y="11102721"/>
                    <a:pt x="9638030" y="11215243"/>
                    <a:pt x="9499219" y="11215243"/>
                  </a:cubicBezTo>
                  <a:lnTo>
                    <a:pt x="251333" y="11215243"/>
                  </a:lnTo>
                  <a:cubicBezTo>
                    <a:pt x="112522" y="11215243"/>
                    <a:pt x="0" y="11102721"/>
                    <a:pt x="0" y="10963910"/>
                  </a:cubicBezTo>
                  <a:close/>
                </a:path>
              </a:pathLst>
            </a:custGeom>
            <a:solidFill>
              <a:srgbClr val="BE49DF">
                <a:alpha val="90196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87755" y="1170984"/>
            <a:ext cx="3080147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Tech Stack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87755" y="1760639"/>
            <a:ext cx="6789391" cy="389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Frontend:</a:t>
            </a:r>
            <a:r>
              <a:rPr lang="en-US" sz="2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React.js + JavaScript (responsive, PWA)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Backend:</a:t>
            </a:r>
            <a:r>
              <a:rPr lang="en-US" sz="2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Node.js / Python FastAPI Monolithic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Database:</a:t>
            </a:r>
            <a:r>
              <a:rPr lang="en-US" sz="2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MongoDB + Redis (real-time caching)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ML Layer:</a:t>
            </a:r>
            <a:r>
              <a:rPr lang="en-US" sz="2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Python, langchain, langgraph &amp; HuggingFace NLP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Interoperability:</a:t>
            </a:r>
            <a:r>
              <a:rPr lang="en-US" sz="2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FHIR R4, HL7 v2, SMART on FHIR</a:t>
            </a:r>
          </a:p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Cloud:</a:t>
            </a:r>
            <a:r>
              <a:rPr lang="en-US" sz="2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AWS (HIPAA-eligible services), containerized via Docker/Kubernetes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D4F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241" y="707822"/>
            <a:ext cx="6653508" cy="8871347"/>
            <a:chOff x="0" y="0"/>
            <a:chExt cx="8871344" cy="1182846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71331" cy="11828526"/>
            </a:xfrm>
            <a:custGeom>
              <a:avLst/>
              <a:gdLst/>
              <a:ahLst/>
              <a:cxnLst/>
              <a:rect r="r" b="b" t="t" l="l"/>
              <a:pathLst>
                <a:path h="11828526" w="8871331">
                  <a:moveTo>
                    <a:pt x="0" y="0"/>
                  </a:moveTo>
                  <a:lnTo>
                    <a:pt x="8871331" y="0"/>
                  </a:lnTo>
                  <a:lnTo>
                    <a:pt x="8871331" y="11828526"/>
                  </a:lnTo>
                  <a:lnTo>
                    <a:pt x="0" y="118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" r="0" b="-1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676112" y="559003"/>
            <a:ext cx="9793786" cy="121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Real-World Impact: The Numbers That Matter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76112" y="2208762"/>
            <a:ext cx="9793786" cy="57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80%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9726" y="3010491"/>
            <a:ext cx="2406406" cy="30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74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Handoff Time Saved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76112" y="3378546"/>
            <a:ext cx="9793786" cy="31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AI summaries cut average handoff duration from 20 min to under 4 min per patient.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76112" y="4215403"/>
            <a:ext cx="9793786" cy="57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3x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54095" y="5017141"/>
            <a:ext cx="2437657" cy="30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74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Faster Risk Response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76112" y="5385197"/>
            <a:ext cx="9793786" cy="31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Clinicians act on critical alerts 3x faster when context and reasoning are surfaced at the point of care.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76112" y="6222054"/>
            <a:ext cx="9793786" cy="57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60%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69726" y="7023792"/>
            <a:ext cx="2406406" cy="30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74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Fewer Missed Tasks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6112" y="7391848"/>
            <a:ext cx="9793786" cy="31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task tracking with ownership assignment reduces dropped follow-ups by over half.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76112" y="8228705"/>
            <a:ext cx="9793786" cy="57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$1.2M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86652" y="9030443"/>
            <a:ext cx="2972695" cy="30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74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Annual Savings / Hospital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76112" y="9398498"/>
            <a:ext cx="9793786" cy="31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Estimated cost avoidance from reduced adverse events, readmissions, and preventable errors.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5444" y="672856"/>
            <a:ext cx="7979121" cy="73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What's Next: The Road Ahead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5444" y="1799187"/>
            <a:ext cx="16357102" cy="42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Aradhya's foundation enables a roadmap of high-value capabilities that grow more powerful as data and adoption scale across health systems.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29712" y="2477538"/>
            <a:ext cx="28575" cy="5883173"/>
            <a:chOff x="0" y="0"/>
            <a:chExt cx="38100" cy="7844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7844282"/>
            </a:xfrm>
            <a:custGeom>
              <a:avLst/>
              <a:gdLst/>
              <a:ahLst/>
              <a:cxnLst/>
              <a:rect r="r" b="b" t="t" l="l"/>
              <a:pathLst>
                <a:path h="784428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825232"/>
                  </a:lnTo>
                  <a:cubicBezTo>
                    <a:pt x="38100" y="7835773"/>
                    <a:pt x="29591" y="7844282"/>
                    <a:pt x="19050" y="7844282"/>
                  </a:cubicBezTo>
                  <a:cubicBezTo>
                    <a:pt x="8509" y="7844282"/>
                    <a:pt x="0" y="7835773"/>
                    <a:pt x="0" y="7825232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76993" y="2734713"/>
            <a:ext cx="724052" cy="28575"/>
            <a:chOff x="0" y="0"/>
            <a:chExt cx="965403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454" cy="38100"/>
            </a:xfrm>
            <a:custGeom>
              <a:avLst/>
              <a:gdLst/>
              <a:ahLst/>
              <a:cxnLst/>
              <a:rect r="r" b="b" t="t" l="l"/>
              <a:pathLst>
                <a:path h="38100" w="96545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46404" y="0"/>
                  </a:lnTo>
                  <a:cubicBezTo>
                    <a:pt x="956945" y="0"/>
                    <a:pt x="965454" y="8509"/>
                    <a:pt x="965454" y="19050"/>
                  </a:cubicBezTo>
                  <a:cubicBezTo>
                    <a:pt x="965454" y="29591"/>
                    <a:pt x="956818" y="38100"/>
                    <a:pt x="9464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67699" y="2472776"/>
            <a:ext cx="552602" cy="552602"/>
            <a:chOff x="0" y="0"/>
            <a:chExt cx="736803" cy="7368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724027" cy="724027"/>
            </a:xfrm>
            <a:custGeom>
              <a:avLst/>
              <a:gdLst/>
              <a:ahLst/>
              <a:cxnLst/>
              <a:rect r="r" b="b" t="t" l="l"/>
              <a:pathLst>
                <a:path h="724027" w="724027">
                  <a:moveTo>
                    <a:pt x="0" y="135128"/>
                  </a:moveTo>
                  <a:cubicBezTo>
                    <a:pt x="0" y="60579"/>
                    <a:pt x="60579" y="0"/>
                    <a:pt x="135128" y="0"/>
                  </a:cubicBezTo>
                  <a:lnTo>
                    <a:pt x="588899" y="0"/>
                  </a:lnTo>
                  <a:cubicBezTo>
                    <a:pt x="663575" y="0"/>
                    <a:pt x="724027" y="60579"/>
                    <a:pt x="724027" y="135128"/>
                  </a:cubicBezTo>
                  <a:lnTo>
                    <a:pt x="724027" y="588899"/>
                  </a:lnTo>
                  <a:cubicBezTo>
                    <a:pt x="724027" y="663575"/>
                    <a:pt x="663448" y="724027"/>
                    <a:pt x="588899" y="724027"/>
                  </a:cubicBezTo>
                  <a:lnTo>
                    <a:pt x="135128" y="724027"/>
                  </a:lnTo>
                  <a:cubicBezTo>
                    <a:pt x="60579" y="724154"/>
                    <a:pt x="0" y="663575"/>
                    <a:pt x="0" y="58889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6727" cy="736727"/>
            </a:xfrm>
            <a:custGeom>
              <a:avLst/>
              <a:gdLst/>
              <a:ahLst/>
              <a:cxnLst/>
              <a:rect r="r" b="b" t="t" l="l"/>
              <a:pathLst>
                <a:path h="736727" w="736727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95249" y="0"/>
                  </a:lnTo>
                  <a:lnTo>
                    <a:pt x="595249" y="6350"/>
                  </a:lnTo>
                  <a:lnTo>
                    <a:pt x="595249" y="0"/>
                  </a:lnTo>
                  <a:cubicBezTo>
                    <a:pt x="673354" y="0"/>
                    <a:pt x="736727" y="63373"/>
                    <a:pt x="736727" y="141478"/>
                  </a:cubicBezTo>
                  <a:lnTo>
                    <a:pt x="730377" y="141478"/>
                  </a:lnTo>
                  <a:lnTo>
                    <a:pt x="736727" y="141478"/>
                  </a:lnTo>
                  <a:lnTo>
                    <a:pt x="736727" y="595249"/>
                  </a:lnTo>
                  <a:lnTo>
                    <a:pt x="730377" y="595249"/>
                  </a:lnTo>
                  <a:lnTo>
                    <a:pt x="736727" y="595249"/>
                  </a:lnTo>
                  <a:cubicBezTo>
                    <a:pt x="736727" y="673354"/>
                    <a:pt x="673354" y="736727"/>
                    <a:pt x="595249" y="736727"/>
                  </a:cubicBezTo>
                  <a:lnTo>
                    <a:pt x="595249" y="730377"/>
                  </a:lnTo>
                  <a:lnTo>
                    <a:pt x="595249" y="736727"/>
                  </a:lnTo>
                  <a:lnTo>
                    <a:pt x="141478" y="736727"/>
                  </a:lnTo>
                  <a:lnTo>
                    <a:pt x="141478" y="730377"/>
                  </a:lnTo>
                  <a:lnTo>
                    <a:pt x="141478" y="736727"/>
                  </a:lnTo>
                  <a:cubicBezTo>
                    <a:pt x="63373" y="736854"/>
                    <a:pt x="0" y="673481"/>
                    <a:pt x="0" y="595249"/>
                  </a:cubicBezTo>
                  <a:lnTo>
                    <a:pt x="0" y="141478"/>
                  </a:lnTo>
                  <a:lnTo>
                    <a:pt x="6350" y="141478"/>
                  </a:lnTo>
                  <a:lnTo>
                    <a:pt x="0" y="141478"/>
                  </a:lnTo>
                  <a:moveTo>
                    <a:pt x="12700" y="141478"/>
                  </a:moveTo>
                  <a:lnTo>
                    <a:pt x="12700" y="595249"/>
                  </a:lnTo>
                  <a:lnTo>
                    <a:pt x="6350" y="595249"/>
                  </a:lnTo>
                  <a:lnTo>
                    <a:pt x="12700" y="595249"/>
                  </a:lnTo>
                  <a:cubicBezTo>
                    <a:pt x="12700" y="666369"/>
                    <a:pt x="70358" y="724027"/>
                    <a:pt x="141478" y="724027"/>
                  </a:cubicBezTo>
                  <a:lnTo>
                    <a:pt x="595249" y="724027"/>
                  </a:lnTo>
                  <a:cubicBezTo>
                    <a:pt x="666369" y="724027"/>
                    <a:pt x="724027" y="666369"/>
                    <a:pt x="724027" y="595249"/>
                  </a:cubicBezTo>
                  <a:lnTo>
                    <a:pt x="724027" y="141478"/>
                  </a:lnTo>
                  <a:cubicBezTo>
                    <a:pt x="724154" y="70358"/>
                    <a:pt x="666369" y="12700"/>
                    <a:pt x="595249" y="12700"/>
                  </a:cubicBezTo>
                  <a:lnTo>
                    <a:pt x="141478" y="12700"/>
                  </a:lnTo>
                  <a:lnTo>
                    <a:pt x="141478" y="6350"/>
                  </a:lnTo>
                  <a:lnTo>
                    <a:pt x="141478" y="12700"/>
                  </a:lnTo>
                  <a:cubicBezTo>
                    <a:pt x="70358" y="12700"/>
                    <a:pt x="12700" y="70358"/>
                    <a:pt x="12700" y="141478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73588" y="2536107"/>
            <a:ext cx="340671" cy="425796"/>
            <a:chOff x="0" y="0"/>
            <a:chExt cx="454228" cy="5677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4223" cy="567730"/>
            </a:xfrm>
            <a:custGeom>
              <a:avLst/>
              <a:gdLst/>
              <a:ahLst/>
              <a:cxnLst/>
              <a:rect r="r" b="b" t="t" l="l"/>
              <a:pathLst>
                <a:path h="567730" w="454223">
                  <a:moveTo>
                    <a:pt x="0" y="0"/>
                  </a:moveTo>
                  <a:lnTo>
                    <a:pt x="454223" y="0"/>
                  </a:lnTo>
                  <a:lnTo>
                    <a:pt x="454223" y="567730"/>
                  </a:lnTo>
                  <a:lnTo>
                    <a:pt x="0" y="567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4" t="0" r="-11036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454228" cy="52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5"/>
                </a:lnSpc>
              </a:pPr>
              <a:r>
                <a:rPr lang="en-US" sz="2625" b="true">
                  <a:solidFill>
                    <a:srgbClr val="27252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097809" y="2550909"/>
            <a:ext cx="2839488" cy="36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1 — Now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444" y="2991745"/>
            <a:ext cx="6971852" cy="79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 handoff dashboard, risk detection, task tracking, and FHIR integration for acute care units.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86964" y="4145166"/>
            <a:ext cx="724052" cy="28575"/>
            <a:chOff x="0" y="0"/>
            <a:chExt cx="965403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5454" cy="38100"/>
            </a:xfrm>
            <a:custGeom>
              <a:avLst/>
              <a:gdLst/>
              <a:ahLst/>
              <a:cxnLst/>
              <a:rect r="r" b="b" t="t" l="l"/>
              <a:pathLst>
                <a:path h="38100" w="96545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46404" y="0"/>
                  </a:lnTo>
                  <a:cubicBezTo>
                    <a:pt x="956945" y="0"/>
                    <a:pt x="965454" y="8509"/>
                    <a:pt x="965454" y="19050"/>
                  </a:cubicBezTo>
                  <a:cubicBezTo>
                    <a:pt x="965454" y="29591"/>
                    <a:pt x="956818" y="38100"/>
                    <a:pt x="9464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867699" y="3883228"/>
            <a:ext cx="552602" cy="552602"/>
            <a:chOff x="0" y="0"/>
            <a:chExt cx="736803" cy="7368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724027" cy="724027"/>
            </a:xfrm>
            <a:custGeom>
              <a:avLst/>
              <a:gdLst/>
              <a:ahLst/>
              <a:cxnLst/>
              <a:rect r="r" b="b" t="t" l="l"/>
              <a:pathLst>
                <a:path h="724027" w="724027">
                  <a:moveTo>
                    <a:pt x="0" y="135128"/>
                  </a:moveTo>
                  <a:cubicBezTo>
                    <a:pt x="0" y="60579"/>
                    <a:pt x="60579" y="0"/>
                    <a:pt x="135128" y="0"/>
                  </a:cubicBezTo>
                  <a:lnTo>
                    <a:pt x="588899" y="0"/>
                  </a:lnTo>
                  <a:cubicBezTo>
                    <a:pt x="663575" y="0"/>
                    <a:pt x="724027" y="60579"/>
                    <a:pt x="724027" y="135128"/>
                  </a:cubicBezTo>
                  <a:lnTo>
                    <a:pt x="724027" y="588899"/>
                  </a:lnTo>
                  <a:cubicBezTo>
                    <a:pt x="724027" y="663575"/>
                    <a:pt x="663448" y="724027"/>
                    <a:pt x="588899" y="724027"/>
                  </a:cubicBezTo>
                  <a:lnTo>
                    <a:pt x="135128" y="724027"/>
                  </a:lnTo>
                  <a:cubicBezTo>
                    <a:pt x="60579" y="724154"/>
                    <a:pt x="0" y="663575"/>
                    <a:pt x="0" y="58889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6727" cy="736727"/>
            </a:xfrm>
            <a:custGeom>
              <a:avLst/>
              <a:gdLst/>
              <a:ahLst/>
              <a:cxnLst/>
              <a:rect r="r" b="b" t="t" l="l"/>
              <a:pathLst>
                <a:path h="736727" w="736727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95249" y="0"/>
                  </a:lnTo>
                  <a:lnTo>
                    <a:pt x="595249" y="6350"/>
                  </a:lnTo>
                  <a:lnTo>
                    <a:pt x="595249" y="0"/>
                  </a:lnTo>
                  <a:cubicBezTo>
                    <a:pt x="673354" y="0"/>
                    <a:pt x="736727" y="63373"/>
                    <a:pt x="736727" y="141478"/>
                  </a:cubicBezTo>
                  <a:lnTo>
                    <a:pt x="730377" y="141478"/>
                  </a:lnTo>
                  <a:lnTo>
                    <a:pt x="736727" y="141478"/>
                  </a:lnTo>
                  <a:lnTo>
                    <a:pt x="736727" y="595249"/>
                  </a:lnTo>
                  <a:lnTo>
                    <a:pt x="730377" y="595249"/>
                  </a:lnTo>
                  <a:lnTo>
                    <a:pt x="736727" y="595249"/>
                  </a:lnTo>
                  <a:cubicBezTo>
                    <a:pt x="736727" y="673354"/>
                    <a:pt x="673354" y="736727"/>
                    <a:pt x="595249" y="736727"/>
                  </a:cubicBezTo>
                  <a:lnTo>
                    <a:pt x="595249" y="730377"/>
                  </a:lnTo>
                  <a:lnTo>
                    <a:pt x="595249" y="736727"/>
                  </a:lnTo>
                  <a:lnTo>
                    <a:pt x="141478" y="736727"/>
                  </a:lnTo>
                  <a:lnTo>
                    <a:pt x="141478" y="730377"/>
                  </a:lnTo>
                  <a:lnTo>
                    <a:pt x="141478" y="736727"/>
                  </a:lnTo>
                  <a:cubicBezTo>
                    <a:pt x="63373" y="736854"/>
                    <a:pt x="0" y="673481"/>
                    <a:pt x="0" y="595249"/>
                  </a:cubicBezTo>
                  <a:lnTo>
                    <a:pt x="0" y="141478"/>
                  </a:lnTo>
                  <a:lnTo>
                    <a:pt x="6350" y="141478"/>
                  </a:lnTo>
                  <a:lnTo>
                    <a:pt x="0" y="141478"/>
                  </a:lnTo>
                  <a:moveTo>
                    <a:pt x="12700" y="141478"/>
                  </a:moveTo>
                  <a:lnTo>
                    <a:pt x="12700" y="595249"/>
                  </a:lnTo>
                  <a:lnTo>
                    <a:pt x="6350" y="595249"/>
                  </a:lnTo>
                  <a:lnTo>
                    <a:pt x="12700" y="595249"/>
                  </a:lnTo>
                  <a:cubicBezTo>
                    <a:pt x="12700" y="666369"/>
                    <a:pt x="70358" y="724027"/>
                    <a:pt x="141478" y="724027"/>
                  </a:cubicBezTo>
                  <a:lnTo>
                    <a:pt x="595249" y="724027"/>
                  </a:lnTo>
                  <a:cubicBezTo>
                    <a:pt x="666369" y="724027"/>
                    <a:pt x="724027" y="666369"/>
                    <a:pt x="724027" y="595249"/>
                  </a:cubicBezTo>
                  <a:lnTo>
                    <a:pt x="724027" y="141478"/>
                  </a:lnTo>
                  <a:cubicBezTo>
                    <a:pt x="724154" y="70358"/>
                    <a:pt x="666369" y="12700"/>
                    <a:pt x="595249" y="12700"/>
                  </a:cubicBezTo>
                  <a:lnTo>
                    <a:pt x="141478" y="12700"/>
                  </a:lnTo>
                  <a:lnTo>
                    <a:pt x="141478" y="6350"/>
                  </a:lnTo>
                  <a:lnTo>
                    <a:pt x="141478" y="12700"/>
                  </a:lnTo>
                  <a:cubicBezTo>
                    <a:pt x="70358" y="12700"/>
                    <a:pt x="12700" y="70358"/>
                    <a:pt x="12700" y="141478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973588" y="3946550"/>
            <a:ext cx="340671" cy="425796"/>
            <a:chOff x="0" y="0"/>
            <a:chExt cx="454228" cy="5677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4223" cy="567730"/>
            </a:xfrm>
            <a:custGeom>
              <a:avLst/>
              <a:gdLst/>
              <a:ahLst/>
              <a:cxnLst/>
              <a:rect r="r" b="b" t="t" l="l"/>
              <a:pathLst>
                <a:path h="567730" w="454223">
                  <a:moveTo>
                    <a:pt x="0" y="0"/>
                  </a:moveTo>
                  <a:lnTo>
                    <a:pt x="454223" y="0"/>
                  </a:lnTo>
                  <a:lnTo>
                    <a:pt x="454223" y="567730"/>
                  </a:lnTo>
                  <a:lnTo>
                    <a:pt x="0" y="567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4" t="0" r="-11036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454228" cy="52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5"/>
                </a:lnSpc>
              </a:pPr>
              <a:r>
                <a:rPr lang="en-US" sz="2625" b="true">
                  <a:solidFill>
                    <a:srgbClr val="27252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350703" y="3961362"/>
            <a:ext cx="2839488" cy="36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2 — 6 Months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50703" y="4402188"/>
            <a:ext cx="6971852" cy="79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Predictive deterioration models, cross-unit transfer workflows, and mobile-native clinician app.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176993" y="5374481"/>
            <a:ext cx="724052" cy="28575"/>
            <a:chOff x="0" y="0"/>
            <a:chExt cx="965403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5454" cy="38100"/>
            </a:xfrm>
            <a:custGeom>
              <a:avLst/>
              <a:gdLst/>
              <a:ahLst/>
              <a:cxnLst/>
              <a:rect r="r" b="b" t="t" l="l"/>
              <a:pathLst>
                <a:path h="38100" w="96545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46404" y="0"/>
                  </a:lnTo>
                  <a:cubicBezTo>
                    <a:pt x="956945" y="0"/>
                    <a:pt x="965454" y="8509"/>
                    <a:pt x="965454" y="19050"/>
                  </a:cubicBezTo>
                  <a:cubicBezTo>
                    <a:pt x="965454" y="29591"/>
                    <a:pt x="956818" y="38100"/>
                    <a:pt x="9464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867699" y="5112544"/>
            <a:ext cx="552602" cy="552602"/>
            <a:chOff x="0" y="0"/>
            <a:chExt cx="736803" cy="7368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724027" cy="724027"/>
            </a:xfrm>
            <a:custGeom>
              <a:avLst/>
              <a:gdLst/>
              <a:ahLst/>
              <a:cxnLst/>
              <a:rect r="r" b="b" t="t" l="l"/>
              <a:pathLst>
                <a:path h="724027" w="724027">
                  <a:moveTo>
                    <a:pt x="0" y="135128"/>
                  </a:moveTo>
                  <a:cubicBezTo>
                    <a:pt x="0" y="60579"/>
                    <a:pt x="60579" y="0"/>
                    <a:pt x="135128" y="0"/>
                  </a:cubicBezTo>
                  <a:lnTo>
                    <a:pt x="588899" y="0"/>
                  </a:lnTo>
                  <a:cubicBezTo>
                    <a:pt x="663575" y="0"/>
                    <a:pt x="724027" y="60579"/>
                    <a:pt x="724027" y="135128"/>
                  </a:cubicBezTo>
                  <a:lnTo>
                    <a:pt x="724027" y="588899"/>
                  </a:lnTo>
                  <a:cubicBezTo>
                    <a:pt x="724027" y="663575"/>
                    <a:pt x="663448" y="724027"/>
                    <a:pt x="588899" y="724027"/>
                  </a:cubicBezTo>
                  <a:lnTo>
                    <a:pt x="135128" y="724027"/>
                  </a:lnTo>
                  <a:cubicBezTo>
                    <a:pt x="60579" y="724154"/>
                    <a:pt x="0" y="663575"/>
                    <a:pt x="0" y="58889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6727" cy="736727"/>
            </a:xfrm>
            <a:custGeom>
              <a:avLst/>
              <a:gdLst/>
              <a:ahLst/>
              <a:cxnLst/>
              <a:rect r="r" b="b" t="t" l="l"/>
              <a:pathLst>
                <a:path h="736727" w="736727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95249" y="0"/>
                  </a:lnTo>
                  <a:lnTo>
                    <a:pt x="595249" y="6350"/>
                  </a:lnTo>
                  <a:lnTo>
                    <a:pt x="595249" y="0"/>
                  </a:lnTo>
                  <a:cubicBezTo>
                    <a:pt x="673354" y="0"/>
                    <a:pt x="736727" y="63373"/>
                    <a:pt x="736727" y="141478"/>
                  </a:cubicBezTo>
                  <a:lnTo>
                    <a:pt x="730377" y="141478"/>
                  </a:lnTo>
                  <a:lnTo>
                    <a:pt x="736727" y="141478"/>
                  </a:lnTo>
                  <a:lnTo>
                    <a:pt x="736727" y="595249"/>
                  </a:lnTo>
                  <a:lnTo>
                    <a:pt x="730377" y="595249"/>
                  </a:lnTo>
                  <a:lnTo>
                    <a:pt x="736727" y="595249"/>
                  </a:lnTo>
                  <a:cubicBezTo>
                    <a:pt x="736727" y="673354"/>
                    <a:pt x="673354" y="736727"/>
                    <a:pt x="595249" y="736727"/>
                  </a:cubicBezTo>
                  <a:lnTo>
                    <a:pt x="595249" y="730377"/>
                  </a:lnTo>
                  <a:lnTo>
                    <a:pt x="595249" y="736727"/>
                  </a:lnTo>
                  <a:lnTo>
                    <a:pt x="141478" y="736727"/>
                  </a:lnTo>
                  <a:lnTo>
                    <a:pt x="141478" y="730377"/>
                  </a:lnTo>
                  <a:lnTo>
                    <a:pt x="141478" y="736727"/>
                  </a:lnTo>
                  <a:cubicBezTo>
                    <a:pt x="63373" y="736854"/>
                    <a:pt x="0" y="673481"/>
                    <a:pt x="0" y="595249"/>
                  </a:cubicBezTo>
                  <a:lnTo>
                    <a:pt x="0" y="141478"/>
                  </a:lnTo>
                  <a:lnTo>
                    <a:pt x="6350" y="141478"/>
                  </a:lnTo>
                  <a:lnTo>
                    <a:pt x="0" y="141478"/>
                  </a:lnTo>
                  <a:moveTo>
                    <a:pt x="12700" y="141478"/>
                  </a:moveTo>
                  <a:lnTo>
                    <a:pt x="12700" y="595249"/>
                  </a:lnTo>
                  <a:lnTo>
                    <a:pt x="6350" y="595249"/>
                  </a:lnTo>
                  <a:lnTo>
                    <a:pt x="12700" y="595249"/>
                  </a:lnTo>
                  <a:cubicBezTo>
                    <a:pt x="12700" y="666369"/>
                    <a:pt x="70358" y="724027"/>
                    <a:pt x="141478" y="724027"/>
                  </a:cubicBezTo>
                  <a:lnTo>
                    <a:pt x="595249" y="724027"/>
                  </a:lnTo>
                  <a:cubicBezTo>
                    <a:pt x="666369" y="724027"/>
                    <a:pt x="724027" y="666369"/>
                    <a:pt x="724027" y="595249"/>
                  </a:cubicBezTo>
                  <a:lnTo>
                    <a:pt x="724027" y="141478"/>
                  </a:lnTo>
                  <a:cubicBezTo>
                    <a:pt x="724154" y="70358"/>
                    <a:pt x="666369" y="12700"/>
                    <a:pt x="595249" y="12700"/>
                  </a:cubicBezTo>
                  <a:lnTo>
                    <a:pt x="141478" y="12700"/>
                  </a:lnTo>
                  <a:lnTo>
                    <a:pt x="141478" y="6350"/>
                  </a:lnTo>
                  <a:lnTo>
                    <a:pt x="141478" y="12700"/>
                  </a:lnTo>
                  <a:cubicBezTo>
                    <a:pt x="70358" y="12700"/>
                    <a:pt x="12700" y="70358"/>
                    <a:pt x="12700" y="141478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973588" y="5175866"/>
            <a:ext cx="340671" cy="425796"/>
            <a:chOff x="0" y="0"/>
            <a:chExt cx="454228" cy="5677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4223" cy="567730"/>
            </a:xfrm>
            <a:custGeom>
              <a:avLst/>
              <a:gdLst/>
              <a:ahLst/>
              <a:cxnLst/>
              <a:rect r="r" b="b" t="t" l="l"/>
              <a:pathLst>
                <a:path h="567730" w="454223">
                  <a:moveTo>
                    <a:pt x="0" y="0"/>
                  </a:moveTo>
                  <a:lnTo>
                    <a:pt x="454223" y="0"/>
                  </a:lnTo>
                  <a:lnTo>
                    <a:pt x="454223" y="567730"/>
                  </a:lnTo>
                  <a:lnTo>
                    <a:pt x="0" y="567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4" t="0" r="-11036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454228" cy="52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5"/>
                </a:lnSpc>
              </a:pPr>
              <a:r>
                <a:rPr lang="en-US" sz="2625" b="true">
                  <a:solidFill>
                    <a:srgbClr val="27252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097809" y="5190677"/>
            <a:ext cx="2839488" cy="36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3 — 12 Months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5444" y="5631504"/>
            <a:ext cx="6971852" cy="79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Ambient voice documentation, NLP-powered note summarization, and post-discharge follow-up automation.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386964" y="6603949"/>
            <a:ext cx="724052" cy="28575"/>
            <a:chOff x="0" y="0"/>
            <a:chExt cx="965403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5454" cy="38100"/>
            </a:xfrm>
            <a:custGeom>
              <a:avLst/>
              <a:gdLst/>
              <a:ahLst/>
              <a:cxnLst/>
              <a:rect r="r" b="b" t="t" l="l"/>
              <a:pathLst>
                <a:path h="38100" w="96545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46404" y="0"/>
                  </a:lnTo>
                  <a:cubicBezTo>
                    <a:pt x="956945" y="0"/>
                    <a:pt x="965454" y="8509"/>
                    <a:pt x="965454" y="19050"/>
                  </a:cubicBezTo>
                  <a:cubicBezTo>
                    <a:pt x="965454" y="29591"/>
                    <a:pt x="956818" y="38100"/>
                    <a:pt x="9464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867699" y="6342012"/>
            <a:ext cx="552602" cy="552602"/>
            <a:chOff x="0" y="0"/>
            <a:chExt cx="736803" cy="7368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6350" y="6350"/>
              <a:ext cx="724027" cy="724027"/>
            </a:xfrm>
            <a:custGeom>
              <a:avLst/>
              <a:gdLst/>
              <a:ahLst/>
              <a:cxnLst/>
              <a:rect r="r" b="b" t="t" l="l"/>
              <a:pathLst>
                <a:path h="724027" w="724027">
                  <a:moveTo>
                    <a:pt x="0" y="135128"/>
                  </a:moveTo>
                  <a:cubicBezTo>
                    <a:pt x="0" y="60579"/>
                    <a:pt x="60579" y="0"/>
                    <a:pt x="135128" y="0"/>
                  </a:cubicBezTo>
                  <a:lnTo>
                    <a:pt x="588899" y="0"/>
                  </a:lnTo>
                  <a:cubicBezTo>
                    <a:pt x="663575" y="0"/>
                    <a:pt x="724027" y="60579"/>
                    <a:pt x="724027" y="135128"/>
                  </a:cubicBezTo>
                  <a:lnTo>
                    <a:pt x="724027" y="588899"/>
                  </a:lnTo>
                  <a:cubicBezTo>
                    <a:pt x="724027" y="663575"/>
                    <a:pt x="663448" y="724027"/>
                    <a:pt x="588899" y="724027"/>
                  </a:cubicBezTo>
                  <a:lnTo>
                    <a:pt x="135128" y="724027"/>
                  </a:lnTo>
                  <a:cubicBezTo>
                    <a:pt x="60579" y="724154"/>
                    <a:pt x="0" y="663575"/>
                    <a:pt x="0" y="58889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6727" cy="736727"/>
            </a:xfrm>
            <a:custGeom>
              <a:avLst/>
              <a:gdLst/>
              <a:ahLst/>
              <a:cxnLst/>
              <a:rect r="r" b="b" t="t" l="l"/>
              <a:pathLst>
                <a:path h="736727" w="736727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95249" y="0"/>
                  </a:lnTo>
                  <a:lnTo>
                    <a:pt x="595249" y="6350"/>
                  </a:lnTo>
                  <a:lnTo>
                    <a:pt x="595249" y="0"/>
                  </a:lnTo>
                  <a:cubicBezTo>
                    <a:pt x="673354" y="0"/>
                    <a:pt x="736727" y="63373"/>
                    <a:pt x="736727" y="141478"/>
                  </a:cubicBezTo>
                  <a:lnTo>
                    <a:pt x="730377" y="141478"/>
                  </a:lnTo>
                  <a:lnTo>
                    <a:pt x="736727" y="141478"/>
                  </a:lnTo>
                  <a:lnTo>
                    <a:pt x="736727" y="595249"/>
                  </a:lnTo>
                  <a:lnTo>
                    <a:pt x="730377" y="595249"/>
                  </a:lnTo>
                  <a:lnTo>
                    <a:pt x="736727" y="595249"/>
                  </a:lnTo>
                  <a:cubicBezTo>
                    <a:pt x="736727" y="673354"/>
                    <a:pt x="673354" y="736727"/>
                    <a:pt x="595249" y="736727"/>
                  </a:cubicBezTo>
                  <a:lnTo>
                    <a:pt x="595249" y="730377"/>
                  </a:lnTo>
                  <a:lnTo>
                    <a:pt x="595249" y="736727"/>
                  </a:lnTo>
                  <a:lnTo>
                    <a:pt x="141478" y="736727"/>
                  </a:lnTo>
                  <a:lnTo>
                    <a:pt x="141478" y="730377"/>
                  </a:lnTo>
                  <a:lnTo>
                    <a:pt x="141478" y="736727"/>
                  </a:lnTo>
                  <a:cubicBezTo>
                    <a:pt x="63373" y="736854"/>
                    <a:pt x="0" y="673481"/>
                    <a:pt x="0" y="595249"/>
                  </a:cubicBezTo>
                  <a:lnTo>
                    <a:pt x="0" y="141478"/>
                  </a:lnTo>
                  <a:lnTo>
                    <a:pt x="6350" y="141478"/>
                  </a:lnTo>
                  <a:lnTo>
                    <a:pt x="0" y="141478"/>
                  </a:lnTo>
                  <a:moveTo>
                    <a:pt x="12700" y="141478"/>
                  </a:moveTo>
                  <a:lnTo>
                    <a:pt x="12700" y="595249"/>
                  </a:lnTo>
                  <a:lnTo>
                    <a:pt x="6350" y="595249"/>
                  </a:lnTo>
                  <a:lnTo>
                    <a:pt x="12700" y="595249"/>
                  </a:lnTo>
                  <a:cubicBezTo>
                    <a:pt x="12700" y="666369"/>
                    <a:pt x="70358" y="724027"/>
                    <a:pt x="141478" y="724027"/>
                  </a:cubicBezTo>
                  <a:lnTo>
                    <a:pt x="595249" y="724027"/>
                  </a:lnTo>
                  <a:cubicBezTo>
                    <a:pt x="666369" y="724027"/>
                    <a:pt x="724027" y="666369"/>
                    <a:pt x="724027" y="595249"/>
                  </a:cubicBezTo>
                  <a:lnTo>
                    <a:pt x="724027" y="141478"/>
                  </a:lnTo>
                  <a:cubicBezTo>
                    <a:pt x="724154" y="70358"/>
                    <a:pt x="666369" y="12700"/>
                    <a:pt x="595249" y="12700"/>
                  </a:cubicBezTo>
                  <a:lnTo>
                    <a:pt x="141478" y="12700"/>
                  </a:lnTo>
                  <a:lnTo>
                    <a:pt x="141478" y="6350"/>
                  </a:lnTo>
                  <a:lnTo>
                    <a:pt x="141478" y="12700"/>
                  </a:lnTo>
                  <a:cubicBezTo>
                    <a:pt x="70358" y="12700"/>
                    <a:pt x="12700" y="70358"/>
                    <a:pt x="12700" y="141478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73588" y="6405343"/>
            <a:ext cx="340671" cy="425796"/>
            <a:chOff x="0" y="0"/>
            <a:chExt cx="454228" cy="5677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4223" cy="567730"/>
            </a:xfrm>
            <a:custGeom>
              <a:avLst/>
              <a:gdLst/>
              <a:ahLst/>
              <a:cxnLst/>
              <a:rect r="r" b="b" t="t" l="l"/>
              <a:pathLst>
                <a:path h="567730" w="454223">
                  <a:moveTo>
                    <a:pt x="0" y="0"/>
                  </a:moveTo>
                  <a:lnTo>
                    <a:pt x="454223" y="0"/>
                  </a:lnTo>
                  <a:lnTo>
                    <a:pt x="454223" y="567730"/>
                  </a:lnTo>
                  <a:lnTo>
                    <a:pt x="0" y="567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4" t="0" r="-11036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47625"/>
              <a:ext cx="454228" cy="52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5"/>
                </a:lnSpc>
              </a:pPr>
              <a:r>
                <a:rPr lang="en-US" sz="2625" b="true">
                  <a:solidFill>
                    <a:srgbClr val="27252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4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350703" y="6420145"/>
            <a:ext cx="2839488" cy="36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4 — 18 Months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50703" y="6860972"/>
            <a:ext cx="6971852" cy="79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Health system-wide analytics, population risk stratification, and payer/ACO integration for value-based care.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65444" y="8610895"/>
            <a:ext cx="16357102" cy="974522"/>
            <a:chOff x="0" y="0"/>
            <a:chExt cx="21809469" cy="12993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809456" cy="1299337"/>
            </a:xfrm>
            <a:custGeom>
              <a:avLst/>
              <a:gdLst/>
              <a:ahLst/>
              <a:cxnLst/>
              <a:rect r="r" b="b" t="t" l="l"/>
              <a:pathLst>
                <a:path h="1299337" w="21809456">
                  <a:moveTo>
                    <a:pt x="0" y="135128"/>
                  </a:moveTo>
                  <a:cubicBezTo>
                    <a:pt x="0" y="60452"/>
                    <a:pt x="60452" y="0"/>
                    <a:pt x="135128" y="0"/>
                  </a:cubicBezTo>
                  <a:lnTo>
                    <a:pt x="21674328" y="0"/>
                  </a:lnTo>
                  <a:cubicBezTo>
                    <a:pt x="21749004" y="0"/>
                    <a:pt x="21809456" y="60452"/>
                    <a:pt x="21809456" y="135128"/>
                  </a:cubicBezTo>
                  <a:lnTo>
                    <a:pt x="21809456" y="1164209"/>
                  </a:lnTo>
                  <a:cubicBezTo>
                    <a:pt x="21809456" y="1238885"/>
                    <a:pt x="21749004" y="1299337"/>
                    <a:pt x="21674328" y="1299337"/>
                  </a:cubicBezTo>
                  <a:lnTo>
                    <a:pt x="135128" y="1299337"/>
                  </a:lnTo>
                  <a:cubicBezTo>
                    <a:pt x="60452" y="1299337"/>
                    <a:pt x="0" y="1238885"/>
                    <a:pt x="0" y="1164209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06703" y="8958415"/>
            <a:ext cx="301676" cy="241249"/>
            <a:chOff x="0" y="0"/>
            <a:chExt cx="402234" cy="321666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402209" cy="321691"/>
            </a:xfrm>
            <a:custGeom>
              <a:avLst/>
              <a:gdLst/>
              <a:ahLst/>
              <a:cxnLst/>
              <a:rect r="r" b="b" t="t" l="l"/>
              <a:pathLst>
                <a:path h="321691" w="402209">
                  <a:moveTo>
                    <a:pt x="0" y="0"/>
                  </a:moveTo>
                  <a:lnTo>
                    <a:pt x="402209" y="0"/>
                  </a:lnTo>
                  <a:lnTo>
                    <a:pt x="402209" y="321691"/>
                  </a:lnTo>
                  <a:lnTo>
                    <a:pt x="0" y="321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80" t="0" r="-1187" b="7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749628" y="8836523"/>
            <a:ext cx="15331678" cy="42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Aradhya is actively seeking clinical pilot partners and seed-stage investors to accelerate deployment across the first 5 health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DAHIoacy-90</dc:identifier>
  <dcterms:modified xsi:type="dcterms:W3CDTF">2011-08-01T06:04:30Z</dcterms:modified>
  <cp:revision>1</cp:revision>
  <dc:title>Aradhya.pptx</dc:title>
</cp:coreProperties>
</file>